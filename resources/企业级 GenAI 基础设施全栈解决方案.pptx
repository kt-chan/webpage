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6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38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6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1758" y="648"/>
      </p:cViewPr>
      <p:guideLst>
        <p:guide orient="horz" pos="2160"/>
        <p:guide pos="2880"/>
        <p:guide orient="horz" pos="388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CECB8A-2E27-436E-B722-4821B92E5E8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910128-8C86-42D3-8C8E-E07FB017F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617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910128-8C86-42D3-8C8E-E07FB017F65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714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7F4-CE60-411F-A6EA-59C27E749A8F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©Iteasoft ,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7A24D-B72A-4133-AD67-8BB14633CFD8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©Iteasoft ,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DD872-73F9-4E08-B292-5AD2DFA73905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©Iteasoft ,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60BFD-CC1B-43FB-9F68-F4A5DC3C4F9A}" type="datetime1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©Iteasoft , all rights reserved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63F78-93AD-41C6-834C-07CDE0F87D7A}" type="datetime1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©Iteasoft , all rights reserved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D67A2-F1F0-41A1-923B-91034436255F}" type="datetime1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©Iteasoft , all rights reserved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E4F81-51CF-4FF2-B387-6889F23998E1}" type="datetime1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648200" y="6356350"/>
            <a:ext cx="28956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©</a:t>
            </a:r>
            <a:r>
              <a:rPr lang="en-US" dirty="0" err="1"/>
              <a:t>Iteasoft</a:t>
            </a:r>
            <a:r>
              <a:rPr lang="en-US" dirty="0"/>
              <a:t> , all rights reserved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601200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E3BF6-0982-4BA4-B28D-1EDD9E8D3D28}" type="datetime1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©Iteasoft , all rights reserved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F0D5D-914B-447B-A52F-F89C39A809C4}" type="datetime1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©Iteasoft , all rights reserved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F22DE-CD61-4684-87CD-7C5A8B3B0B7A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©Iteasoft ,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6C61E-22CF-4D31-9423-1B451FF8BDE8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©Iteasoft ,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D59704-B05A-4DEC-9FA4-48F64E93BB46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©Iteasoft ,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1" b="10000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24350" y="2190559"/>
            <a:ext cx="3513963" cy="57864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4741"/>
              </a:lnSpc>
              <a:spcBef>
                <a:spcPts val="0"/>
              </a:spcBef>
              <a:spcAft>
                <a:spcPts val="0"/>
              </a:spcAft>
            </a:pPr>
            <a:r>
              <a:rPr sz="4350" b="1" i="0">
                <a:solidFill>
                  <a:srgbClr val="071A48"/>
                </a:solidFill>
                <a:latin typeface="Noto Sans SC"/>
                <a:ea typeface="Noto Sans SC"/>
              </a:rPr>
              <a:t>企业级GenAI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39262" y="2893980"/>
            <a:ext cx="5684234" cy="61074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0552"/>
              </a:lnSpc>
              <a:spcBef>
                <a:spcPts val="0"/>
              </a:spcBef>
              <a:spcAft>
                <a:spcPts val="0"/>
              </a:spcAft>
            </a:pPr>
            <a:r>
              <a:rPr sz="4350" b="1" i="0">
                <a:solidFill>
                  <a:srgbClr val="071A48"/>
                </a:solidFill>
                <a:latin typeface="Noto Sans SC"/>
                <a:ea typeface="Noto Sans SC"/>
              </a:rPr>
              <a:t>基础设施全栈解决方案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64834" y="3727513"/>
            <a:ext cx="6432994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29808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2E3A52"/>
                </a:solidFill>
                <a:latin typeface="Noto Sans SC"/>
                <a:ea typeface="Noto Sans SC"/>
              </a:rPr>
              <a:t>从高效算力管理(Anyadmin)到多模态知识洞察(anyzearch)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7175" y="4279392"/>
            <a:ext cx="4057650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26583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D2948"/>
                </a:solidFill>
                <a:latin typeface="Noto Sans SC"/>
                <a:ea typeface="Noto Sans SC"/>
              </a:rPr>
              <a:t>链接算力与智慧,开启企业AI工业化时代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b="9999"/>
          <a:stretch>
            <a:fillRect/>
          </a:stretch>
        </p:blipFill>
        <p:spPr>
          <a:xfrm>
            <a:off x="0" y="1"/>
            <a:ext cx="12192000" cy="6172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5218" y="479107"/>
            <a:ext cx="3654647" cy="45005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5244"/>
              </a:lnSpc>
              <a:spcBef>
                <a:spcPts val="0"/>
              </a:spcBef>
              <a:spcAft>
                <a:spcPts val="0"/>
              </a:spcAft>
            </a:pPr>
            <a:r>
              <a:rPr sz="3075" b="1" i="0">
                <a:solidFill>
                  <a:srgbClr val="000000"/>
                </a:solidFill>
                <a:latin typeface="Noto Sans SC"/>
                <a:ea typeface="Noto Sans SC"/>
              </a:rPr>
              <a:t>行业背景与企业痛点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5988" y="1706118"/>
            <a:ext cx="1217771" cy="35366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3767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09090A"/>
                </a:solidFill>
                <a:latin typeface="Noto Sans SC"/>
                <a:ea typeface="Noto Sans SC"/>
              </a:rPr>
              <a:t>架构杂乱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8178" y="2197512"/>
            <a:ext cx="4349972" cy="53339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E30"/>
                </a:solidFill>
                <a:latin typeface="Noto Sans SC"/>
                <a:ea typeface="Noto Sans SC"/>
              </a:rPr>
              <a:t>私有模型(vLLM/Ollama)与云端API并存,缺乏统一</a:t>
            </a:r>
          </a:p>
          <a:p>
            <a:pPr>
              <a:spcBef>
                <a:spcPts val="0"/>
              </a:spcBef>
            </a:pPr>
            <a:r>
              <a:rPr lang="zh-CN" sz="1500">
                <a:latin typeface="Noto Sans SC"/>
                <a:ea typeface="Noto Sans SC"/>
              </a:rPr>
              <a:t>接口;多供应商碎片化管理,运维复杂度激增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5325" y="3145059"/>
            <a:ext cx="1188434" cy="35366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3767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09090A"/>
                </a:solidFill>
                <a:latin typeface="Noto Sans SC"/>
                <a:ea typeface="Noto Sans SC"/>
              </a:rPr>
              <a:t>监控盲区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7515" y="3637978"/>
            <a:ext cx="3643955" cy="53197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1A1E30"/>
                </a:solidFill>
                <a:latin typeface="Noto Sans SC"/>
                <a:ea typeface="Noto Sans SC"/>
              </a:rPr>
              <a:t>算力资源利用率不明,API响应黑盒;</a:t>
            </a:r>
          </a:p>
          <a:p>
            <a:pPr>
              <a:spcBef>
                <a:spcPts val="391"/>
              </a:spcBef>
            </a:pPr>
            <a:r>
              <a:rPr lang="zh-CN" sz="1575">
                <a:latin typeface="Noto Sans SC"/>
                <a:ea typeface="Noto Sans SC"/>
              </a:rPr>
              <a:t>成本管控精细化程度不足,算力浪费严重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5988" y="4706493"/>
            <a:ext cx="1217771" cy="3535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3733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000000"/>
                </a:solidFill>
                <a:latin typeface="Noto Sans SC"/>
                <a:ea typeface="Noto Sans SC"/>
              </a:rPr>
              <a:t>数据孤岛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277" y="5199411"/>
            <a:ext cx="4080510" cy="50044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462" b="0" i="0">
                <a:solidFill>
                  <a:srgbClr val="1B1F32"/>
                </a:solidFill>
                <a:latin typeface="Noto Sans SC"/>
                <a:ea typeface="Noto Sans SC"/>
              </a:rPr>
              <a:t>复杂格式(PDF表格/多媒体)难以被AI有效检索;</a:t>
            </a:r>
          </a:p>
          <a:p>
            <a:pPr>
              <a:spcBef>
                <a:spcPts val="396"/>
              </a:spcBef>
            </a:pPr>
            <a:r>
              <a:rPr lang="zh-CN" sz="1462">
                <a:latin typeface="Noto Sans SC"/>
                <a:ea typeface="Noto Sans SC"/>
              </a:rPr>
              <a:t>各业务系统数据分散,知识难以沉淀与复用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25CA829-5A36-C1E2-1F60-1D557FF30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D10FB-4144-437D-A577-EFE92742EED6}" type="datetime1">
              <a:rPr lang="en-US" smtClean="0"/>
              <a:t>3/10/2026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833BB14-0267-788C-1565-79BAF1227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©Iteasoft , all rights reserved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5F41063-283A-6225-CCD5-D00E11FC3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rcRect b="9999"/>
          <a:stretch>
            <a:fillRect/>
          </a:stretch>
        </p:blipFill>
        <p:spPr>
          <a:xfrm>
            <a:off x="0" y="0"/>
            <a:ext cx="12192000" cy="61722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533" y="4963178"/>
            <a:ext cx="529875" cy="4683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9541" y="4932508"/>
            <a:ext cx="442055" cy="52761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2698" y="3423274"/>
            <a:ext cx="781812" cy="90099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3761" y="3377908"/>
            <a:ext cx="1036034" cy="9552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8628" y="601599"/>
            <a:ext cx="3097815" cy="45005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0" marR="0" lvl="0" indent="0" algn="just" defTabSz="457200" rtl="0" eaLnBrk="1" fontAlgn="auto" latinLnBrk="0" hangingPunct="1">
              <a:lnSpc>
                <a:spcPct val="1181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90809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平台能力</a:t>
            </a:r>
            <a:r>
              <a:rPr kumimoji="0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090809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总结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090809"/>
              </a:solidFill>
              <a:effectLst/>
              <a:uLnTx/>
              <a:uFillTx/>
              <a:latin typeface="Noto Sans SC"/>
              <a:ea typeface="Noto Sans SC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39112" y="1579054"/>
            <a:ext cx="2369534" cy="54654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0" marR="0" lvl="0" indent="0" algn="just" defTabSz="457200" rtl="0" eaLnBrk="1" fontAlgn="auto" latinLnBrk="0" hangingPunct="1">
              <a:lnSpc>
                <a:spcPct val="11954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060607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Anyadmin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54112" y="1579054"/>
            <a:ext cx="2369534" cy="54654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0" marR="0" lvl="0" indent="0" algn="just" defTabSz="457200" rtl="0" eaLnBrk="1" fontAlgn="auto" latinLnBrk="0" hangingPunct="1">
              <a:lnSpc>
                <a:spcPct val="11710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75" b="1" i="0" u="none" strike="noStrike" kern="1200" cap="none" spc="0" normalizeH="0" baseline="0" noProof="0">
                <a:ln>
                  <a:noFill/>
                </a:ln>
                <a:solidFill>
                  <a:srgbClr val="060607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anyzearch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4105" y="2351341"/>
            <a:ext cx="920305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0" marR="0" lvl="0" indent="0" algn="just" defTabSz="457200" rtl="0" eaLnBrk="1" fontAlgn="auto" latinLnBrk="0" hangingPunct="1">
              <a:lnSpc>
                <a:spcPct val="11739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25" b="1" i="0" u="none" strike="noStrike" kern="1200" cap="none" spc="0" normalizeH="0" baseline="0" noProof="0">
                <a:ln>
                  <a:noFill/>
                </a:ln>
                <a:solidFill>
                  <a:srgbClr val="101114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核心优势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9105" y="2351341"/>
            <a:ext cx="890968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0" marR="0" lvl="0" indent="0" algn="just" defTabSz="457200" rtl="0" eaLnBrk="1" fontAlgn="auto" latinLnBrk="0" hangingPunct="1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50" b="1" i="0" u="none" strike="noStrike" kern="1200" cap="none" spc="0" normalizeH="0" baseline="0" noProof="0">
                <a:ln>
                  <a:noFill/>
                </a:ln>
                <a:solidFill>
                  <a:srgbClr val="111219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核心优势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021" y="2351341"/>
            <a:ext cx="3000279" cy="83800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25" b="0" i="0" u="none" strike="noStrike" kern="1200" cap="none" spc="0" normalizeH="0" baseline="0" noProof="0">
                <a:ln>
                  <a:noFill/>
                </a:ln>
                <a:solidFill>
                  <a:srgbClr val="1C1E2F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复杂文档解析、全场景模态</a:t>
            </a:r>
          </a:p>
          <a:p>
            <a:pPr marL="666" marR="0" lvl="0" indent="0" algn="l" defTabSz="457200" rtl="0" eaLnBrk="1" fontAlgn="auto" latinLnBrk="0" hangingPunct="1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2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攻克</a:t>
            </a:r>
            <a:r>
              <a:rPr kumimoji="0" lang="en-US" altLang="zh-CN" sz="142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95%</a:t>
            </a:r>
            <a:r>
              <a:rPr kumimoji="0" lang="zh-CN" altLang="en-US" sz="142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以上复杂</a:t>
            </a:r>
            <a:r>
              <a:rPr kumimoji="0" lang="en-US" altLang="zh-CN" sz="142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PDF</a:t>
            </a:r>
            <a:r>
              <a:rPr kumimoji="0" lang="zh-CN" altLang="en-US" sz="142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格式解析难题</a:t>
            </a:r>
          </a:p>
          <a:p>
            <a:pPr marL="666" marR="0" lvl="0" indent="0" algn="l" defTabSz="457200" rtl="0" eaLnBrk="1" fontAlgn="auto" latinLnBrk="0" hangingPunct="1">
              <a:lnSpc>
                <a:spcPct val="100000"/>
              </a:lnSpc>
              <a:spcBef>
                <a:spcPts val="63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2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支持多模态内容的深度理解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5687" y="2352103"/>
            <a:ext cx="2970371" cy="83724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B1D2D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标准化协议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B1D2D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、英伟达及国产算力统一管理</a:t>
            </a: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srgbClr val="1B1D2D"/>
              </a:solidFill>
              <a:effectLst/>
              <a:uLnTx/>
              <a:uFillTx/>
              <a:latin typeface="Noto Sans SC"/>
              <a:ea typeface="Noto Sans SC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3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B1D2D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高并发、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支撑百万级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API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调用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,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延迟降低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50%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3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统一管理接口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,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适配全类型大模型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75021" y="3453479"/>
            <a:ext cx="1213294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0" marR="0" lvl="0" indent="0" algn="just" defTabSz="457200" rtl="0" eaLnBrk="1" fontAlgn="auto" latinLnBrk="0" hangingPunct="1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50" b="0" i="0" u="none" strike="noStrike" kern="1200" cap="none" spc="0" normalizeH="0" baseline="0" noProof="0">
                <a:ln>
                  <a:noFill/>
                </a:ln>
                <a:solidFill>
                  <a:srgbClr val="1C1F30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极低(容器化)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772" y="3484911"/>
            <a:ext cx="918781" cy="22498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0" marR="0" lvl="0" indent="0" algn="just" defTabSz="457200" rtl="0" eaLnBrk="1" fontAlgn="auto" latinLnBrk="0" hangingPunct="1">
              <a:lnSpc>
                <a:spcPct val="1073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50" b="1" i="0" u="none" strike="noStrike" kern="1200" cap="none" spc="0" normalizeH="0" baseline="0" noProof="0">
                <a:ln>
                  <a:noFill/>
                </a:ln>
                <a:solidFill>
                  <a:srgbClr val="101114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部署难度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9772" y="3484911"/>
            <a:ext cx="918781" cy="22498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0" marR="0" lvl="0" indent="0" algn="just" defTabSz="457200" rtl="0" eaLnBrk="1" fontAlgn="auto" latinLnBrk="0" hangingPunct="1">
              <a:lnSpc>
                <a:spcPct val="1073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50" b="1" i="0" u="none" strike="noStrike" kern="1200" cap="none" spc="0" normalizeH="0" baseline="0" noProof="0">
                <a:ln>
                  <a:noFill/>
                </a:ln>
                <a:solidFill>
                  <a:srgbClr val="111219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部署难度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0688" y="3484911"/>
            <a:ext cx="2237612" cy="83734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1C1E2F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端到端快速启动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3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开箱即用</a:t>
            </a:r>
            <a:r>
              <a: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,</a:t>
            </a:r>
            <a:r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无需复杂配置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3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支持私有化部署和云端部署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75687" y="3791045"/>
            <a:ext cx="2470308" cy="53120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62" b="0" i="0" u="none" strike="noStrike" kern="1200" cap="none" spc="0" normalizeH="0" baseline="0" noProof="0">
                <a:ln>
                  <a:noFill/>
                </a:ln>
                <a:solidFill>
                  <a:srgbClr val="1B1D2D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一键式部署,5分钟快速启动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3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6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支持多云环境和混合部署架构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105" y="4586287"/>
            <a:ext cx="715137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0" marR="0" lvl="0" indent="0" algn="just" defTabSz="4572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75" b="1" i="0" u="none" strike="noStrike" kern="1200" cap="none" spc="0" normalizeH="0" baseline="0" noProof="0">
                <a:ln>
                  <a:noFill/>
                </a:ln>
                <a:solidFill>
                  <a:srgbClr val="111322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扩展性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9105" y="4586287"/>
            <a:ext cx="685800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0" marR="0" lvl="0" indent="0" algn="just" defTabSz="457200" rtl="0" eaLnBrk="1" fontAlgn="auto" latinLnBrk="0" hangingPunct="1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121321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扩展性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75687" y="4587049"/>
            <a:ext cx="2237613" cy="83743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25" b="0" i="0" u="none" strike="noStrike" kern="1200" cap="none" spc="0" normalizeH="0" baseline="0" noProof="0" dirty="0">
                <a:ln>
                  <a:noFill/>
                </a:ln>
                <a:solidFill>
                  <a:srgbClr val="1B1D2D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适配K8s算力集群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3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灵活的算力扩展和调度能力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3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支持</a:t>
            </a:r>
            <a:r>
              <a:rPr kumimoji="0" lang="en-US" altLang="zh-CN" sz="14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GPU</a:t>
            </a:r>
            <a:r>
              <a:rPr kumimoji="0" lang="zh-CN" altLang="en-US" sz="14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集群横向扩展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0688" y="4587049"/>
            <a:ext cx="2470308" cy="83743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25" b="0" i="0" u="none" strike="noStrike" kern="1200" cap="none" spc="0" normalizeH="0" baseline="0" noProof="0">
                <a:ln>
                  <a:noFill/>
                </a:ln>
                <a:solidFill>
                  <a:srgbClr val="1C1E2F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灵活对接各类向量库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3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2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支持多种检索算法和索引策略</a:t>
            </a:r>
          </a:p>
          <a:p>
            <a:pPr marL="29337" marR="0" lvl="0" indent="0" algn="l" defTabSz="457200" rtl="0" eaLnBrk="1" fontAlgn="auto" latinLnBrk="0" hangingPunct="1">
              <a:lnSpc>
                <a:spcPct val="100000"/>
              </a:lnSpc>
              <a:spcBef>
                <a:spcPts val="63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2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模块化设计</a:t>
            </a:r>
            <a:r>
              <a:rPr kumimoji="0" lang="en-US" altLang="zh-CN" sz="142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,</a:t>
            </a:r>
            <a:r>
              <a:rPr kumimoji="0" lang="zh-CN" altLang="en-US" sz="142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便于功能扩展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89446" y="5868447"/>
            <a:ext cx="5783865" cy="22498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0" marR="0" lvl="0" indent="0" algn="ctr" defTabSz="457200" rtl="0" eaLnBrk="1" fontAlgn="auto" latinLnBrk="0" hangingPunct="1">
              <a:lnSpc>
                <a:spcPct val="118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1B1D2D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与市场同类产品相比,我们在扩展性和兼容性方面领先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1B1D2D"/>
              </a:solidFill>
              <a:effectLst/>
              <a:uLnTx/>
              <a:uFillTx/>
              <a:latin typeface="Noto Sans SC"/>
              <a:ea typeface="Noto Sans SC"/>
              <a:cs typeface="+mn-cs"/>
            </a:endParaRPr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BC3FBB25-C63E-46D0-F2B4-1356A9A61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DC7CD-D606-4EDC-AD04-83D78EE37A58}" type="datetime1">
              <a:rPr lang="en-US" smtClean="0"/>
              <a:t>3/10/2026</a:t>
            </a:fld>
            <a:endParaRPr lang="en-US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2C37F8E7-FB3E-69F4-745D-CA4F4FC29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©Iteasoft , all rights reserved</a:t>
            </a:r>
            <a:endParaRPr lang="en-US" dirty="0"/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412189FA-E25C-B95C-7332-248B5218D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173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b="9999"/>
          <a:stretch>
            <a:fillRect/>
          </a:stretch>
        </p:blipFill>
        <p:spPr>
          <a:xfrm>
            <a:off x="0" y="0"/>
            <a:ext cx="12192000" cy="61722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751" y="4107465"/>
            <a:ext cx="560345" cy="97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4520" y="3775573"/>
            <a:ext cx="733043" cy="75684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255" y="3766661"/>
            <a:ext cx="691794" cy="74904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5999" y="4106608"/>
            <a:ext cx="567868" cy="9544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5838" y="3767644"/>
            <a:ext cx="669417" cy="75012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85759" y="1585589"/>
            <a:ext cx="669607" cy="4084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3797" y="509778"/>
            <a:ext cx="5053131" cy="97050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3262" b="1" i="0" dirty="0" err="1">
                <a:solidFill>
                  <a:srgbClr val="08081C"/>
                </a:solidFill>
                <a:latin typeface="Noto Sans SC"/>
                <a:ea typeface="Noto Sans SC"/>
              </a:rPr>
              <a:t>Anyadmin</a:t>
            </a:r>
            <a:r>
              <a:rPr sz="3262" b="1" i="0" dirty="0">
                <a:solidFill>
                  <a:srgbClr val="08081C"/>
                </a:solidFill>
                <a:latin typeface="Noto Sans SC"/>
                <a:ea typeface="Noto Sans SC"/>
              </a:rPr>
              <a:t>:</a:t>
            </a:r>
            <a:r>
              <a:rPr lang="zh-CN" altLang="en-US" sz="3262" b="1" dirty="0">
                <a:solidFill>
                  <a:srgbClr val="08081C"/>
                </a:solidFill>
                <a:latin typeface="Noto Sans SC"/>
                <a:ea typeface="Noto Sans SC"/>
              </a:rPr>
              <a:t>企业</a:t>
            </a:r>
            <a:r>
              <a:rPr sz="3262" b="1" i="0" dirty="0">
                <a:solidFill>
                  <a:srgbClr val="08081C"/>
                </a:solidFill>
                <a:latin typeface="Noto Sans SC"/>
                <a:ea typeface="Noto Sans SC"/>
              </a:rPr>
              <a:t>级</a:t>
            </a:r>
          </a:p>
          <a:p>
            <a:pPr>
              <a:spcBef>
                <a:spcPts val="554"/>
              </a:spcBef>
            </a:pPr>
            <a:r>
              <a:rPr lang="zh-CN" sz="3262" b="1" dirty="0">
                <a:latin typeface="Noto Sans SC"/>
                <a:ea typeface="Noto Sans SC"/>
              </a:rPr>
              <a:t>GenAI统一管理与调度中心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" y="1890522"/>
            <a:ext cx="1216247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0536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01B3E"/>
                </a:solidFill>
                <a:latin typeface="Noto Sans SC"/>
                <a:ea typeface="Noto Sans SC"/>
              </a:rPr>
              <a:t>|项目愿景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4772" y="2352865"/>
            <a:ext cx="4054030" cy="49987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237" b="0" i="0">
                <a:solidFill>
                  <a:srgbClr val="20223D"/>
                </a:solidFill>
                <a:latin typeface="Noto Sans SC"/>
                <a:ea typeface="Noto Sans SC"/>
              </a:rPr>
              <a:t>建立标准化AI基础设施,打通从部署到应用的最后一步</a:t>
            </a:r>
          </a:p>
          <a:p>
            <a:pPr>
              <a:spcBef>
                <a:spcPts val="645"/>
              </a:spcBef>
            </a:pPr>
            <a:r>
              <a:rPr lang="zh-CN" sz="1237">
                <a:latin typeface="Noto Sans SC"/>
                <a:ea typeface="Noto Sans SC"/>
              </a:rPr>
              <a:t>实现算力资源的全局可视、智能调度和精细化管理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006" y="3299650"/>
            <a:ext cx="1068228" cy="28927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8464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01B3E"/>
                </a:solidFill>
                <a:latin typeface="Noto Sans SC"/>
                <a:ea typeface="Noto Sans SC"/>
              </a:rPr>
              <a:t>核心价值</a:t>
            </a:r>
          </a:p>
        </p:txBody>
      </p:sp>
      <p:sp>
        <p:nvSpPr>
          <p:cNvPr id="13" name="TextBox 12"/>
          <p:cNvSpPr txBox="1"/>
          <p:nvPr/>
        </p:nvSpPr>
        <p:spPr>
          <a:xfrm rot="2393400">
            <a:off x="9741027" y="4185475"/>
            <a:ext cx="535209" cy="38519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11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D7E6FC"/>
                </a:solidFill>
                <a:latin typeface="Noto Sans SC"/>
                <a:ea typeface="Noto Sans SC"/>
              </a:rPr>
              <a:t>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4772" y="4770786"/>
            <a:ext cx="4259865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4368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dirty="0" err="1">
                <a:solidFill>
                  <a:srgbClr val="1D203E"/>
                </a:solidFill>
                <a:latin typeface="Noto Sans SC"/>
                <a:ea typeface="Noto Sans SC"/>
              </a:rPr>
              <a:t>标准化</a:t>
            </a:r>
            <a:r>
              <a:rPr sz="1425" b="1" i="0" dirty="0">
                <a:solidFill>
                  <a:srgbClr val="1D203E"/>
                </a:solidFill>
                <a:latin typeface="Noto Sans SC"/>
                <a:ea typeface="Noto Sans SC"/>
              </a:rPr>
              <a:t>(Standardization</a:t>
            </a:r>
            <a:r>
              <a:rPr sz="1425" b="0" i="0" dirty="0">
                <a:solidFill>
                  <a:srgbClr val="1D203E"/>
                </a:solidFill>
                <a:latin typeface="Noto Sans SC"/>
                <a:ea typeface="Noto Sans SC"/>
              </a:rPr>
              <a:t>):</a:t>
            </a:r>
            <a:r>
              <a:rPr sz="1425" b="0" i="0" dirty="0" err="1">
                <a:solidFill>
                  <a:srgbClr val="1D203E"/>
                </a:solidFill>
                <a:latin typeface="Noto Sans SC"/>
                <a:ea typeface="Noto Sans SC"/>
              </a:rPr>
              <a:t>统一API接口,打破技术壁垒</a:t>
            </a:r>
            <a:endParaRPr sz="1425" b="0" i="0" dirty="0">
              <a:solidFill>
                <a:srgbClr val="1D203E"/>
              </a:solidFill>
              <a:latin typeface="Noto Sans SC"/>
              <a:ea typeface="Noto Sans S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44772" y="5291232"/>
            <a:ext cx="4377118" cy="22498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122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dirty="0" err="1">
                <a:solidFill>
                  <a:srgbClr val="1D203E"/>
                </a:solidFill>
                <a:latin typeface="Noto Sans SC"/>
                <a:ea typeface="Noto Sans SC"/>
              </a:rPr>
              <a:t>可见性</a:t>
            </a:r>
            <a:r>
              <a:rPr sz="1350" b="1" i="0" dirty="0">
                <a:solidFill>
                  <a:srgbClr val="1D203E"/>
                </a:solidFill>
                <a:latin typeface="Noto Sans SC"/>
                <a:ea typeface="Noto Sans SC"/>
              </a:rPr>
              <a:t>(</a:t>
            </a:r>
            <a:r>
              <a:rPr lang="en-US" sz="1350" b="1" dirty="0">
                <a:solidFill>
                  <a:srgbClr val="1D203E"/>
                </a:solidFill>
                <a:latin typeface="Noto Sans SC"/>
                <a:ea typeface="Noto Sans SC"/>
              </a:rPr>
              <a:t>Observability</a:t>
            </a:r>
            <a:r>
              <a:rPr sz="1350" b="1" i="0" dirty="0">
                <a:solidFill>
                  <a:srgbClr val="1D203E"/>
                </a:solidFill>
                <a:latin typeface="Noto Sans SC"/>
                <a:ea typeface="Noto Sans SC"/>
              </a:rPr>
              <a:t>):</a:t>
            </a:r>
            <a:r>
              <a:rPr sz="1350" b="0" i="0" dirty="0" err="1">
                <a:solidFill>
                  <a:srgbClr val="1D203E"/>
                </a:solidFill>
                <a:latin typeface="Noto Sans SC"/>
                <a:ea typeface="Noto Sans SC"/>
              </a:rPr>
              <a:t>实时监控算力使用情况,消除管理盲区</a:t>
            </a:r>
            <a:endParaRPr sz="1350" b="0" i="0" dirty="0">
              <a:solidFill>
                <a:srgbClr val="1D203E"/>
              </a:solidFill>
              <a:latin typeface="Noto Sans SC"/>
              <a:ea typeface="Noto Sans S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44772" y="5811678"/>
            <a:ext cx="4289202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4368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25" b="1" dirty="0">
                <a:solidFill>
                  <a:srgbClr val="1D203E"/>
                </a:solidFill>
                <a:latin typeface="Noto Sans SC"/>
                <a:ea typeface="Noto Sans SC"/>
              </a:rPr>
              <a:t>灵活</a:t>
            </a:r>
            <a:r>
              <a:rPr sz="1425" b="1" i="0" dirty="0">
                <a:solidFill>
                  <a:srgbClr val="1D203E"/>
                </a:solidFill>
                <a:latin typeface="Noto Sans SC"/>
                <a:ea typeface="Noto Sans SC"/>
              </a:rPr>
              <a:t>性(</a:t>
            </a:r>
            <a:r>
              <a:rPr lang="en-US" altLang="zh-CN" sz="1425" b="1" i="0" dirty="0">
                <a:solidFill>
                  <a:srgbClr val="1D203E"/>
                </a:solidFill>
                <a:latin typeface="Noto Sans SC"/>
                <a:ea typeface="Noto Sans SC"/>
              </a:rPr>
              <a:t>Flexibility</a:t>
            </a:r>
            <a:r>
              <a:rPr sz="1425" b="1" i="0" dirty="0">
                <a:solidFill>
                  <a:srgbClr val="1D203E"/>
                </a:solidFill>
                <a:latin typeface="Noto Sans SC"/>
                <a:ea typeface="Noto Sans SC"/>
              </a:rPr>
              <a:t>):</a:t>
            </a:r>
            <a:r>
              <a:rPr sz="1425" b="0" i="0" dirty="0" err="1">
                <a:solidFill>
                  <a:srgbClr val="1D203E"/>
                </a:solidFill>
                <a:latin typeface="Noto Sans SC"/>
                <a:ea typeface="Noto Sans SC"/>
              </a:rPr>
              <a:t>业务与基础设施分离,提升灵活性</a:t>
            </a:r>
            <a:endParaRPr sz="1425" b="0" i="0" dirty="0">
              <a:solidFill>
                <a:srgbClr val="1D203E"/>
              </a:solidFill>
              <a:latin typeface="Noto Sans SC"/>
              <a:ea typeface="Noto Sans SC"/>
            </a:endParaRP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2637E694-0BF8-4E67-DA62-B7C3A0A49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B646D-94FA-4144-BD29-D5BF5BE404A7}" type="datetime1">
              <a:rPr lang="en-US" smtClean="0"/>
              <a:t>3/10/2026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F814BE36-083E-9B30-5FE4-9DA359A9D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©Iteasoft , all rights reserved</a:t>
            </a:r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5445EBA4-BA35-389F-CAF4-76D984A19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-5000" b="10024"/>
          <a:stretch>
            <a:fillRect/>
          </a:stretch>
        </p:blipFill>
        <p:spPr>
          <a:xfrm>
            <a:off x="0" y="-341282"/>
            <a:ext cx="12192000" cy="651348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704" y="1967641"/>
            <a:ext cx="980417" cy="9946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95" y="1993803"/>
            <a:ext cx="960024" cy="9742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5881" y="326040"/>
            <a:ext cx="3947731" cy="45005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5244"/>
              </a:lnSpc>
              <a:spcBef>
                <a:spcPts val="0"/>
              </a:spcBef>
              <a:spcAft>
                <a:spcPts val="0"/>
              </a:spcAft>
            </a:pPr>
            <a:r>
              <a:rPr sz="3075" b="1" i="0" dirty="0" err="1">
                <a:solidFill>
                  <a:srgbClr val="09080A"/>
                </a:solidFill>
                <a:latin typeface="Noto Sans SC"/>
                <a:ea typeface="Noto Sans SC"/>
              </a:rPr>
              <a:t>Anyadmin技术架构图</a:t>
            </a:r>
            <a:endParaRPr sz="3075" b="1" i="0" dirty="0">
              <a:solidFill>
                <a:srgbClr val="09080A"/>
              </a:solidFill>
              <a:latin typeface="Noto Sans SC"/>
              <a:ea typeface="Noto Sans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379368" y="1396236"/>
            <a:ext cx="3417284" cy="38576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25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700" b="1" i="0" dirty="0" err="1">
                <a:solidFill>
                  <a:srgbClr val="0B0B0D"/>
                </a:solidFill>
                <a:latin typeface="Noto Sans SC"/>
                <a:ea typeface="Noto Sans SC"/>
              </a:rPr>
              <a:t>LiteLLM</a:t>
            </a:r>
            <a:r>
              <a:rPr lang="en-US" sz="2700" b="1" dirty="0">
                <a:solidFill>
                  <a:srgbClr val="0B0B0D"/>
                </a:solidFill>
                <a:latin typeface="Noto Sans SC"/>
                <a:ea typeface="Noto Sans SC"/>
              </a:rPr>
              <a:t> </a:t>
            </a:r>
            <a:r>
              <a:rPr lang="en-US" altLang="zh-CN" sz="2700" b="1" dirty="0" err="1">
                <a:solidFill>
                  <a:srgbClr val="0B0B0D"/>
                </a:solidFill>
                <a:latin typeface="Noto Sans SC"/>
                <a:ea typeface="Noto Sans SC"/>
              </a:rPr>
              <a:t>Gateway</a:t>
            </a:r>
            <a:r>
              <a:rPr sz="2700" b="1" i="0" dirty="0" err="1">
                <a:solidFill>
                  <a:srgbClr val="0B0B0D"/>
                </a:solidFill>
                <a:latin typeface="Noto Sans SC"/>
                <a:ea typeface="Noto Sans SC"/>
              </a:rPr>
              <a:t>:标准</a:t>
            </a:r>
            <a:r>
              <a:rPr lang="zh-CN" altLang="en-US" sz="2700" b="1" i="0" dirty="0">
                <a:solidFill>
                  <a:srgbClr val="0B0B0D"/>
                </a:solidFill>
                <a:latin typeface="Noto Sans SC"/>
                <a:ea typeface="Noto Sans SC"/>
              </a:rPr>
              <a:t>网关</a:t>
            </a:r>
            <a:endParaRPr sz="2700" b="1" i="0" dirty="0">
              <a:solidFill>
                <a:srgbClr val="0B0B0D"/>
              </a:solidFill>
              <a:latin typeface="Noto Sans SC"/>
              <a:ea typeface="Noto Sans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79746" y="1396998"/>
            <a:ext cx="3386518" cy="3535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9176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0C0C0E"/>
                </a:solidFill>
                <a:latin typeface="Noto Sans SC"/>
                <a:ea typeface="Noto Sans SC"/>
              </a:rPr>
              <a:t>Backend:高性能引擎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5343" y="3113022"/>
            <a:ext cx="3762470" cy="56483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612" b="0" i="0" dirty="0" err="1">
                <a:solidFill>
                  <a:srgbClr val="181B2E"/>
                </a:solidFill>
                <a:latin typeface="Noto Sans SC"/>
                <a:ea typeface="Noto Sans SC"/>
              </a:rPr>
              <a:t>Go语言驱动,专为</a:t>
            </a:r>
            <a:r>
              <a:rPr sz="1612" b="0" i="0" dirty="0" err="1">
                <a:solidFill>
                  <a:schemeClr val="accent1"/>
                </a:solidFill>
                <a:latin typeface="Noto Sans SC"/>
                <a:ea typeface="Noto Sans SC"/>
              </a:rPr>
              <a:t>高并发API转</a:t>
            </a:r>
            <a:r>
              <a:rPr sz="1612" b="0" i="0" dirty="0" err="1">
                <a:solidFill>
                  <a:srgbClr val="181B2E"/>
                </a:solidFill>
                <a:latin typeface="Noto Sans SC"/>
                <a:ea typeface="Noto Sans SC"/>
              </a:rPr>
              <a:t>发优化</a:t>
            </a:r>
            <a:r>
              <a:rPr sz="1612" b="0" i="0" dirty="0">
                <a:solidFill>
                  <a:srgbClr val="181B2E"/>
                </a:solidFill>
                <a:latin typeface="Noto Sans SC"/>
                <a:ea typeface="Noto Sans SC"/>
              </a:rPr>
              <a:t>。</a:t>
            </a:r>
          </a:p>
          <a:p>
            <a:pPr marL="234410">
              <a:spcBef>
                <a:spcPts val="0"/>
              </a:spcBef>
            </a:pPr>
            <a:r>
              <a:rPr lang="zh-CN" sz="1612" dirty="0">
                <a:latin typeface="Noto Sans SC"/>
                <a:ea typeface="Noto Sans SC"/>
              </a:rPr>
              <a:t>支持百万级并发连接,低延迟响应。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6922" y="3113022"/>
            <a:ext cx="4145565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8091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dirty="0" err="1">
                <a:solidFill>
                  <a:srgbClr val="191B2D"/>
                </a:solidFill>
                <a:latin typeface="Noto Sans SC"/>
                <a:ea typeface="Noto Sans SC"/>
              </a:rPr>
              <a:t>深度集成LiteLLM,</a:t>
            </a:r>
            <a:r>
              <a:rPr sz="1650" b="1" i="0" dirty="0" err="1">
                <a:solidFill>
                  <a:schemeClr val="accent1"/>
                </a:solidFill>
                <a:latin typeface="Noto Sans SC"/>
                <a:ea typeface="Noto Sans SC"/>
              </a:rPr>
              <a:t>实现OpenAl协议标准化</a:t>
            </a:r>
            <a:r>
              <a:rPr sz="1650" dirty="0">
                <a:solidFill>
                  <a:srgbClr val="191B2D"/>
                </a:solidFill>
                <a:latin typeface="Noto Sans SC"/>
                <a:ea typeface="Noto Sans SC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45178" y="3389343"/>
            <a:ext cx="3089052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8571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1B1D2F"/>
                </a:solidFill>
                <a:latin typeface="Noto Sans SC"/>
                <a:ea typeface="Noto Sans SC"/>
              </a:rPr>
              <a:t>统一鉴权、配额管理和流量控制。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1647" y="4610924"/>
            <a:ext cx="1863947" cy="81353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2587" b="1" i="0">
                <a:solidFill>
                  <a:srgbClr val="0A0A0B"/>
                </a:solidFill>
                <a:latin typeface="Noto Sans SC"/>
                <a:ea typeface="Noto Sans SC"/>
              </a:rPr>
              <a:t>Ecosystem:</a:t>
            </a:r>
          </a:p>
          <a:p>
            <a:pPr marL="118014">
              <a:spcBef>
                <a:spcPts val="584"/>
              </a:spcBef>
            </a:pPr>
            <a:r>
              <a:rPr lang="zh-CN" sz="2587" b="1">
                <a:latin typeface="Noto Sans SC"/>
                <a:ea typeface="Noto Sans SC"/>
              </a:rPr>
              <a:t>生态适配层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9819" y="4610924"/>
            <a:ext cx="2040255" cy="81353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2512" b="1" i="0" dirty="0">
                <a:solidFill>
                  <a:srgbClr val="0A0A0B"/>
                </a:solidFill>
                <a:latin typeface="Noto Sans SC"/>
                <a:ea typeface="Noto Sans SC"/>
              </a:rPr>
              <a:t>Monitoring:</a:t>
            </a:r>
          </a:p>
          <a:p>
            <a:pPr>
              <a:spcBef>
                <a:spcPts val="584"/>
              </a:spcBef>
            </a:pPr>
            <a:r>
              <a:rPr lang="zh-CN" sz="2512" b="1" dirty="0">
                <a:latin typeface="Noto Sans SC"/>
                <a:ea typeface="Noto Sans SC"/>
              </a:rPr>
              <a:t>智能监控中心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9412" y="5592189"/>
            <a:ext cx="4175021" cy="56483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612" b="0" i="0" dirty="0">
                <a:solidFill>
                  <a:srgbClr val="181B2F"/>
                </a:solidFill>
                <a:latin typeface="Noto Sans SC"/>
                <a:ea typeface="Noto Sans SC"/>
              </a:rPr>
              <a:t>适配Docker&amp;K8s,支持NVIDIA </a:t>
            </a:r>
            <a:r>
              <a:rPr lang="en-US" sz="1612" b="0" i="0" dirty="0">
                <a:solidFill>
                  <a:srgbClr val="181B2F"/>
                </a:solidFill>
                <a:latin typeface="Noto Sans SC"/>
                <a:ea typeface="Noto Sans SC"/>
              </a:rPr>
              <a:t>&amp; Ascend </a:t>
            </a:r>
            <a:r>
              <a:rPr sz="1612" b="0" i="0" dirty="0">
                <a:solidFill>
                  <a:srgbClr val="181B2F"/>
                </a:solidFill>
                <a:latin typeface="Noto Sans SC"/>
                <a:ea typeface="Noto Sans SC"/>
              </a:rPr>
              <a:t>GPU。</a:t>
            </a:r>
          </a:p>
          <a:p>
            <a:pPr marL="265271">
              <a:spcBef>
                <a:spcPts val="0"/>
              </a:spcBef>
            </a:pPr>
            <a:r>
              <a:rPr lang="zh-CN" sz="1612" dirty="0">
                <a:latin typeface="Noto Sans SC"/>
                <a:ea typeface="Noto Sans SC"/>
              </a:rPr>
              <a:t>无缝对接主流大模型框架和云计算平台。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6918" y="5592189"/>
            <a:ext cx="4205668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53409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dirty="0" err="1">
                <a:solidFill>
                  <a:srgbClr val="191B2E"/>
                </a:solidFill>
                <a:latin typeface="Noto Sans SC"/>
                <a:ea typeface="Noto Sans SC"/>
              </a:rPr>
              <a:t>实时采集GPU</a:t>
            </a:r>
            <a:r>
              <a:rPr sz="1650" b="0" i="0" dirty="0">
                <a:solidFill>
                  <a:srgbClr val="191B2E"/>
                </a:solidFill>
                <a:latin typeface="Noto Sans SC"/>
                <a:ea typeface="Noto Sans SC"/>
              </a:rPr>
              <a:t>/</a:t>
            </a:r>
            <a:r>
              <a:rPr sz="1650" b="0" i="0" dirty="0" err="1">
                <a:solidFill>
                  <a:srgbClr val="191B2E"/>
                </a:solidFill>
                <a:latin typeface="Noto Sans SC"/>
                <a:ea typeface="Noto Sans SC"/>
              </a:rPr>
              <a:t>CPU遥测数据,多维度可视化</a:t>
            </a:r>
            <a:r>
              <a:rPr lang="zh-TW" altLang="en-US" dirty="0">
                <a:solidFill>
                  <a:srgbClr val="191B2E"/>
                </a:solidFill>
                <a:latin typeface="Noto Sans SC"/>
                <a:ea typeface="Noto Sans SC"/>
              </a:rPr>
              <a:t>分析</a:t>
            </a:r>
            <a:endParaRPr sz="1650" b="0" i="0" dirty="0">
              <a:solidFill>
                <a:srgbClr val="191B2E"/>
              </a:solidFill>
              <a:latin typeface="Noto Sans SC"/>
              <a:ea typeface="Noto Sans S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10768" y="5899847"/>
            <a:ext cx="3499294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dirty="0" err="1">
                <a:solidFill>
                  <a:srgbClr val="191B2E"/>
                </a:solidFill>
                <a:latin typeface="Noto Sans SC"/>
                <a:ea typeface="Noto Sans SC"/>
              </a:rPr>
              <a:t>智能异常检测和服务自愈能力</a:t>
            </a:r>
            <a:r>
              <a:rPr sz="1575" b="0" i="0" dirty="0">
                <a:solidFill>
                  <a:srgbClr val="191B2E"/>
                </a:solidFill>
                <a:latin typeface="Noto Sans SC"/>
                <a:ea typeface="Noto Sans SC"/>
              </a:rPr>
              <a:t>。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40EDB42-2D5A-62F0-157E-3ED1CCC87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CF346-974F-4F6A-9641-49A4A49B4056}" type="datetime1">
              <a:rPr lang="en-US" smtClean="0"/>
              <a:t>3/10/2026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AF8B3C7D-5E06-82EA-39FC-9619534CB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©Iteasoft , all rights reserved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0715EFD5-93FC-1B69-FE12-1F02BE4F7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b="10000"/>
          <a:stretch>
            <a:fillRect/>
          </a:stretch>
        </p:blipFill>
        <p:spPr>
          <a:xfrm>
            <a:off x="0" y="0"/>
            <a:ext cx="12192000" cy="61722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9001" y="1868328"/>
            <a:ext cx="1555152" cy="128882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1053" y="1744122"/>
            <a:ext cx="1726670" cy="139846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5751" y="1824513"/>
            <a:ext cx="1598408" cy="12749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7965" y="571023"/>
            <a:ext cx="6175152" cy="45005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2500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>
                <a:solidFill>
                  <a:srgbClr val="080A1D"/>
                </a:solidFill>
                <a:latin typeface="Noto Sans SC"/>
                <a:ea typeface="Noto Sans SC"/>
              </a:rPr>
              <a:t>核心功能模块:三位一体的管理体系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4577" y="3481768"/>
            <a:ext cx="1276350" cy="35366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2515"/>
              </a:lnSpc>
              <a:spcBef>
                <a:spcPts val="0"/>
              </a:spcBef>
              <a:spcAft>
                <a:spcPts val="0"/>
              </a:spcAft>
            </a:pPr>
            <a:r>
              <a:rPr sz="2475" b="1" i="0">
                <a:solidFill>
                  <a:srgbClr val="0D1026"/>
                </a:solidFill>
                <a:latin typeface="Noto Sans SC"/>
                <a:ea typeface="Noto Sans SC"/>
              </a:rPr>
              <a:t>模型网关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67325" y="3481768"/>
            <a:ext cx="1598771" cy="35366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6031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C0F27"/>
                </a:solidFill>
                <a:latin typeface="Noto Sans SC"/>
                <a:ea typeface="Noto Sans SC"/>
              </a:rPr>
              <a:t>知识库界面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2493" y="3481768"/>
            <a:ext cx="1305687" cy="35366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9206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0D1026"/>
                </a:solidFill>
                <a:latin typeface="Noto Sans SC"/>
                <a:ea typeface="Noto Sans SC"/>
              </a:rPr>
              <a:t>监控代理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48431" y="3882104"/>
            <a:ext cx="773715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7391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161930"/>
                </a:solidFill>
                <a:latin typeface="Noto Sans SC"/>
                <a:ea typeface="Noto Sans SC"/>
              </a:rPr>
              <a:t>(Agent)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09171" y="4247959"/>
            <a:ext cx="2681668" cy="111594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B2037"/>
                </a:solidFill>
                <a:latin typeface="Noto Sans SC"/>
                <a:ea typeface="Noto Sans SC"/>
              </a:rPr>
              <a:t>实时采集GPU/CPU遥测数据,</a:t>
            </a:r>
          </a:p>
          <a:p>
            <a:pPr marL="88582">
              <a:spcBef>
                <a:spcPts val="0"/>
              </a:spcBef>
            </a:pPr>
            <a:r>
              <a:rPr lang="zh-CN" sz="1650">
                <a:latin typeface="Noto Sans SC"/>
                <a:ea typeface="Noto Sans SC"/>
              </a:rPr>
              <a:t>服务自愈;多维度性能指</a:t>
            </a:r>
          </a:p>
          <a:p>
            <a:pPr marL="88582">
              <a:spcBef>
                <a:spcPts val="0"/>
              </a:spcBef>
            </a:pPr>
            <a:r>
              <a:rPr lang="zh-CN" sz="1650">
                <a:latin typeface="Noto Sans SC"/>
                <a:ea typeface="Noto Sans SC"/>
              </a:rPr>
              <a:t>标分析和趋势预测;智能告</a:t>
            </a:r>
          </a:p>
          <a:p>
            <a:pPr marL="89344">
              <a:spcBef>
                <a:spcPts val="137"/>
              </a:spcBef>
            </a:pPr>
            <a:r>
              <a:rPr lang="zh-CN" sz="1650">
                <a:latin typeface="Noto Sans SC"/>
                <a:ea typeface="Noto Sans SC"/>
              </a:rPr>
              <a:t>警系统,支持多种通知渠道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9838" y="4248721"/>
            <a:ext cx="2497312" cy="111518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612" b="0" i="0">
                <a:solidFill>
                  <a:srgbClr val="1E233A"/>
                </a:solidFill>
                <a:latin typeface="Noto Sans SC"/>
                <a:ea typeface="Noto Sans SC"/>
              </a:rPr>
              <a:t>统一鉴权、配额控制、多模</a:t>
            </a:r>
          </a:p>
          <a:p>
            <a:pPr>
              <a:spcBef>
                <a:spcPts val="0"/>
              </a:spcBef>
            </a:pPr>
            <a:r>
              <a:rPr lang="zh-CN" sz="1612">
                <a:latin typeface="Noto Sans SC"/>
                <a:ea typeface="Noto Sans SC"/>
              </a:rPr>
              <a:t>型无缝切换;支持模型版本</a:t>
            </a:r>
          </a:p>
          <a:p>
            <a:pPr marL="761">
              <a:spcBef>
                <a:spcPts val="137"/>
              </a:spcBef>
            </a:pPr>
            <a:r>
              <a:rPr lang="zh-CN" sz="1612">
                <a:latin typeface="Noto Sans SC"/>
                <a:ea typeface="Noto Sans SC"/>
              </a:rPr>
              <a:t>管理和灰度发布;提供详细</a:t>
            </a:r>
          </a:p>
          <a:p>
            <a:pPr marL="761">
              <a:spcBef>
                <a:spcPts val="144"/>
              </a:spcBef>
            </a:pPr>
            <a:r>
              <a:rPr lang="zh-CN" sz="1612">
                <a:latin typeface="Noto Sans SC"/>
                <a:ea typeface="Noto Sans SC"/>
              </a:rPr>
              <a:t>的API调用日志和审计功能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4669" y="4248721"/>
            <a:ext cx="3014376" cy="111518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612" b="0" i="0">
                <a:solidFill>
                  <a:srgbClr val="1C223A"/>
                </a:solidFill>
                <a:latin typeface="Noto Sans SC"/>
                <a:ea typeface="Noto Sans SC"/>
              </a:rPr>
              <a:t>可视化向量数据管理,支持</a:t>
            </a:r>
          </a:p>
          <a:p>
            <a:pPr>
              <a:spcBef>
                <a:spcPts val="0"/>
              </a:spcBef>
            </a:pPr>
            <a:r>
              <a:rPr lang="zh-CN" sz="1612">
                <a:latin typeface="Noto Sans SC"/>
                <a:ea typeface="Noto Sans SC"/>
              </a:rPr>
              <a:t>Chunks召回测试;知识库生命周</a:t>
            </a:r>
          </a:p>
          <a:p>
            <a:pPr marL="29336">
              <a:spcBef>
                <a:spcPts val="372"/>
              </a:spcBef>
            </a:pPr>
            <a:r>
              <a:rPr lang="zh-CN" sz="1612">
                <a:latin typeface="Noto Sans SC"/>
                <a:ea typeface="Noto Sans SC"/>
              </a:rPr>
              <a:t>管理,从数据导入到更新维护;实</a:t>
            </a:r>
          </a:p>
          <a:p>
            <a:pPr marL="147351">
              <a:spcBef>
                <a:spcPts val="0"/>
              </a:spcBef>
            </a:pPr>
            <a:r>
              <a:rPr lang="zh-CN" sz="1612">
                <a:latin typeface="Noto Sans SC"/>
                <a:ea typeface="Noto Sans SC"/>
              </a:rPr>
              <a:t>时监控知识库质量和检索效果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852" y="5787134"/>
            <a:ext cx="3089052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2727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dirty="0" err="1">
                <a:solidFill>
                  <a:srgbClr val="202B46"/>
                </a:solidFill>
                <a:latin typeface="Noto Sans SC"/>
                <a:ea typeface="Noto Sans SC"/>
              </a:rPr>
              <a:t>三位一体,构建完整的AI管理闭环</a:t>
            </a:r>
            <a:endParaRPr sz="1650" b="1" i="0" dirty="0">
              <a:solidFill>
                <a:srgbClr val="202B46"/>
              </a:solidFill>
              <a:latin typeface="Noto Sans SC"/>
              <a:ea typeface="Noto Sans SC"/>
            </a:endParaRP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4BBACB5-6672-CA7A-6C55-13A89EF03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4D73F-08EC-4705-B262-7881289A0369}" type="datetime1">
              <a:rPr lang="en-US" smtClean="0"/>
              <a:t>3/10/2026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F8E64807-DD06-4061-8F48-109E9B132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©Iteasoft , all rights reserved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41AFB2A-CBA4-18D0-DCD1-7890EEA40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b="10000"/>
          <a:stretch>
            <a:fillRect/>
          </a:stretch>
        </p:blipFill>
        <p:spPr>
          <a:xfrm>
            <a:off x="0" y="0"/>
            <a:ext cx="12192000" cy="6172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46321" y="695706"/>
            <a:ext cx="4778097" cy="81362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2512" b="1" i="0">
                <a:solidFill>
                  <a:srgbClr val="0A0B0E"/>
                </a:solidFill>
                <a:latin typeface="Noto Sans SC"/>
                <a:ea typeface="Noto Sans SC"/>
              </a:rPr>
              <a:t>anyzearch:</a:t>
            </a:r>
          </a:p>
          <a:p>
            <a:pPr>
              <a:spcBef>
                <a:spcPts val="584"/>
              </a:spcBef>
            </a:pPr>
            <a:r>
              <a:rPr lang="zh-CN" sz="2512" b="1">
                <a:latin typeface="Noto Sans SC"/>
                <a:ea typeface="Noto Sans SC"/>
              </a:rPr>
              <a:t>基于RAG的全场景信息检索引擎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9178" y="1892045"/>
            <a:ext cx="890968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2727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21214"/>
                </a:solidFill>
                <a:latin typeface="Noto Sans SC"/>
                <a:ea typeface="Noto Sans SC"/>
              </a:rPr>
              <a:t>设计理念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9178" y="2412587"/>
            <a:ext cx="4694086" cy="11755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575" b="0" i="0" dirty="0" err="1">
                <a:solidFill>
                  <a:srgbClr val="1E2034"/>
                </a:solidFill>
                <a:latin typeface="Noto Sans SC"/>
                <a:ea typeface="Noto Sans SC"/>
              </a:rPr>
              <a:t>隐私优先</a:t>
            </a:r>
            <a:r>
              <a:rPr sz="1575" b="0" i="0" dirty="0">
                <a:solidFill>
                  <a:srgbClr val="1E2034"/>
                </a:solidFill>
                <a:latin typeface="Noto Sans SC"/>
                <a:ea typeface="Noto Sans SC"/>
              </a:rPr>
              <a:t>:</a:t>
            </a:r>
            <a:r>
              <a:rPr lang="en-US" sz="1575" b="0" i="0" dirty="0">
                <a:solidFill>
                  <a:srgbClr val="1E2034"/>
                </a:solidFill>
                <a:latin typeface="Noto Sans SC"/>
                <a:ea typeface="Noto Sans SC"/>
              </a:rPr>
              <a:t> </a:t>
            </a:r>
            <a:r>
              <a:rPr sz="1575" b="0" i="0" dirty="0" err="1">
                <a:solidFill>
                  <a:srgbClr val="1E2034"/>
                </a:solidFill>
                <a:latin typeface="Noto Sans SC"/>
                <a:ea typeface="Noto Sans SC"/>
              </a:rPr>
              <a:t>本地化部署,确保数据不出域</a:t>
            </a:r>
            <a:endParaRPr sz="1575" b="0" i="0" dirty="0">
              <a:solidFill>
                <a:srgbClr val="1E2034"/>
              </a:solidFill>
              <a:latin typeface="Noto Sans SC"/>
              <a:ea typeface="Noto Sans SC"/>
            </a:endParaRPr>
          </a:p>
          <a:p>
            <a:pPr>
              <a:spcBef>
                <a:spcPts val="1590"/>
              </a:spcBef>
            </a:pPr>
            <a:r>
              <a:rPr lang="zh-CN" sz="1575" dirty="0">
                <a:latin typeface="Noto Sans SC"/>
                <a:ea typeface="Noto Sans SC"/>
              </a:rPr>
              <a:t>模块化设计:</a:t>
            </a:r>
            <a:r>
              <a:rPr lang="en-US" altLang="zh-CN" sz="1575" dirty="0">
                <a:latin typeface="Noto Sans SC"/>
                <a:ea typeface="Noto Sans SC"/>
              </a:rPr>
              <a:t> </a:t>
            </a:r>
            <a:r>
              <a:rPr lang="zh-CN" sz="1575" dirty="0">
                <a:latin typeface="Noto Sans SC"/>
                <a:ea typeface="Noto Sans SC"/>
              </a:rPr>
              <a:t>针对多模态数据边界进行深度二次开发</a:t>
            </a:r>
          </a:p>
          <a:p>
            <a:pPr>
              <a:spcBef>
                <a:spcPts val="1590"/>
              </a:spcBef>
            </a:pPr>
            <a:r>
              <a:rPr lang="zh-CN" sz="1575" dirty="0">
                <a:latin typeface="Noto Sans SC"/>
                <a:ea typeface="Noto Sans SC"/>
              </a:rPr>
              <a:t>开放式架构:</a:t>
            </a:r>
            <a:r>
              <a:rPr lang="en-US" altLang="zh-CN" sz="1575" dirty="0">
                <a:latin typeface="Noto Sans SC"/>
                <a:ea typeface="Noto Sans SC"/>
              </a:rPr>
              <a:t> </a:t>
            </a:r>
            <a:r>
              <a:rPr lang="zh-CN" sz="1575" dirty="0">
                <a:latin typeface="Noto Sans SC"/>
                <a:ea typeface="Noto Sans SC"/>
              </a:rPr>
              <a:t>支持灵活的第三方插件扩展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8512" y="4003833"/>
            <a:ext cx="892397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8091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21214"/>
                </a:solidFill>
                <a:latin typeface="Noto Sans SC"/>
                <a:ea typeface="Noto Sans SC"/>
              </a:rPr>
              <a:t>核心价值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9178" y="4525041"/>
            <a:ext cx="5460682" cy="71561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612" b="0" i="0" dirty="0" err="1">
                <a:solidFill>
                  <a:srgbClr val="1E2034"/>
                </a:solidFill>
                <a:latin typeface="Noto Sans SC"/>
                <a:ea typeface="Noto Sans SC"/>
              </a:rPr>
              <a:t>突破格式壁垒</a:t>
            </a:r>
            <a:r>
              <a:rPr sz="1612" b="0" i="0" dirty="0">
                <a:solidFill>
                  <a:srgbClr val="1E2034"/>
                </a:solidFill>
                <a:latin typeface="Noto Sans SC"/>
                <a:ea typeface="Noto Sans SC"/>
              </a:rPr>
              <a:t>:</a:t>
            </a:r>
            <a:r>
              <a:rPr lang="en-US" sz="1612" b="0" i="0" dirty="0">
                <a:solidFill>
                  <a:srgbClr val="1E2034"/>
                </a:solidFill>
                <a:latin typeface="Noto Sans SC"/>
                <a:ea typeface="Noto Sans SC"/>
              </a:rPr>
              <a:t> </a:t>
            </a:r>
            <a:r>
              <a:rPr sz="1612" b="0" i="0" dirty="0" err="1">
                <a:solidFill>
                  <a:srgbClr val="1E2034"/>
                </a:solidFill>
                <a:latin typeface="Noto Sans SC"/>
                <a:ea typeface="Noto Sans SC"/>
              </a:rPr>
              <a:t>完美解析PDF表格、图片、音视频等复杂内容</a:t>
            </a:r>
            <a:endParaRPr sz="1612" b="0" i="0" dirty="0">
              <a:solidFill>
                <a:srgbClr val="1E2034"/>
              </a:solidFill>
              <a:latin typeface="Noto Sans SC"/>
              <a:ea typeface="Noto Sans SC"/>
            </a:endParaRPr>
          </a:p>
          <a:p>
            <a:pPr marL="761">
              <a:spcBef>
                <a:spcPts val="1838"/>
              </a:spcBef>
            </a:pPr>
            <a:r>
              <a:rPr lang="zh-CN" sz="1612" dirty="0">
                <a:latin typeface="Noto Sans SC"/>
                <a:ea typeface="Noto Sans SC"/>
              </a:rPr>
              <a:t>实现知识统一:</a:t>
            </a:r>
            <a:r>
              <a:rPr lang="en-US" altLang="zh-CN" sz="1612" dirty="0">
                <a:latin typeface="Noto Sans SC"/>
                <a:ea typeface="Noto Sans SC"/>
              </a:rPr>
              <a:t> </a:t>
            </a:r>
            <a:r>
              <a:rPr lang="zh-CN" sz="1612" dirty="0">
                <a:latin typeface="Noto Sans SC"/>
                <a:ea typeface="Noto Sans SC"/>
              </a:rPr>
              <a:t>打通各业务系统数据,构建企业级知识库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9940" y="5474874"/>
            <a:ext cx="4816697" cy="22498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81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dirty="0" err="1">
                <a:solidFill>
                  <a:srgbClr val="1E2034"/>
                </a:solidFill>
                <a:latin typeface="Noto Sans SC"/>
                <a:ea typeface="Noto Sans SC"/>
              </a:rPr>
              <a:t>提供智能洞察</a:t>
            </a:r>
            <a:r>
              <a:rPr sz="1500" b="0" i="0" dirty="0">
                <a:solidFill>
                  <a:srgbClr val="1E2034"/>
                </a:solidFill>
                <a:latin typeface="Noto Sans SC"/>
                <a:ea typeface="Noto Sans SC"/>
              </a:rPr>
              <a:t>:</a:t>
            </a:r>
            <a:r>
              <a:rPr lang="en-US" sz="1500" b="0" i="0" dirty="0">
                <a:solidFill>
                  <a:srgbClr val="1E2034"/>
                </a:solidFill>
                <a:latin typeface="Noto Sans SC"/>
                <a:ea typeface="Noto Sans SC"/>
              </a:rPr>
              <a:t> </a:t>
            </a:r>
            <a:r>
              <a:rPr sz="1500" b="0" i="0" dirty="0" err="1">
                <a:solidFill>
                  <a:srgbClr val="1E2034"/>
                </a:solidFill>
                <a:latin typeface="Noto Sans SC"/>
                <a:ea typeface="Noto Sans SC"/>
              </a:rPr>
              <a:t>基于上下文理解的精准信息检索和问答</a:t>
            </a:r>
            <a:endParaRPr sz="1500" b="0" i="0" dirty="0">
              <a:solidFill>
                <a:srgbClr val="1E2034"/>
              </a:solidFill>
              <a:latin typeface="Noto Sans SC"/>
              <a:ea typeface="Noto Sans SC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86D2F-A6B1-911F-CB53-6E0B43FAC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1F1A4-D3A6-430C-AF66-A0277EC903FA}" type="datetime1">
              <a:rPr lang="en-US" smtClean="0"/>
              <a:t>3/10/2026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2D9CFAA-0506-409B-44B2-14EAAABEF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©Iteasoft , all rights reserved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80A8724-8740-F4AA-846A-808431F89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b="10000"/>
          <a:stretch>
            <a:fillRect/>
          </a:stretch>
        </p:blipFill>
        <p:spPr>
          <a:xfrm>
            <a:off x="0" y="0"/>
            <a:ext cx="12192000" cy="61722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9764" y="1967565"/>
            <a:ext cx="485013" cy="58962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4845" y="2030920"/>
            <a:ext cx="637247" cy="58969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0392" y="1972497"/>
            <a:ext cx="479583" cy="5840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4452" y="477583"/>
            <a:ext cx="3680460" cy="109604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3525" b="1" i="0">
                <a:solidFill>
                  <a:srgbClr val="060709"/>
                </a:solidFill>
                <a:latin typeface="Noto Sans SC"/>
                <a:ea typeface="Noto Sans SC"/>
              </a:rPr>
              <a:t>核心技术实现:</a:t>
            </a:r>
          </a:p>
          <a:p>
            <a:pPr marL="29241">
              <a:spcBef>
                <a:spcPts val="530"/>
              </a:spcBef>
            </a:pPr>
            <a:r>
              <a:rPr lang="zh-CN" sz="3525" b="1">
                <a:latin typeface="Noto Sans SC"/>
                <a:ea typeface="Noto Sans SC"/>
              </a:rPr>
              <a:t>更深、更准、更强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14900" y="2470689"/>
            <a:ext cx="1336452" cy="38576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5714"/>
              </a:lnSpc>
              <a:spcBef>
                <a:spcPts val="0"/>
              </a:spcBef>
              <a:spcAft>
                <a:spcPts val="0"/>
              </a:spcAft>
            </a:pPr>
            <a:r>
              <a:rPr sz="2625" b="1" i="0">
                <a:solidFill>
                  <a:srgbClr val="0A0A0A"/>
                </a:solidFill>
                <a:latin typeface="Noto Sans SC"/>
                <a:ea typeface="Noto Sans SC"/>
              </a:rPr>
              <a:t>检索技术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5321" y="2470689"/>
            <a:ext cx="1336452" cy="38576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5714"/>
              </a:lnSpc>
              <a:spcBef>
                <a:spcPts val="0"/>
              </a:spcBef>
              <a:spcAft>
                <a:spcPts val="0"/>
              </a:spcAft>
            </a:pPr>
            <a:r>
              <a:rPr sz="2625" b="1" i="0">
                <a:solidFill>
                  <a:srgbClr val="333333"/>
                </a:solidFill>
                <a:latin typeface="Noto Sans SC"/>
                <a:ea typeface="Noto Sans SC"/>
              </a:rPr>
              <a:t>权限控制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7325" y="2502122"/>
            <a:ext cx="1364265" cy="3535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6057"/>
              </a:lnSpc>
              <a:spcBef>
                <a:spcPts val="0"/>
              </a:spcBef>
              <a:spcAft>
                <a:spcPts val="0"/>
              </a:spcAft>
            </a:pPr>
            <a:r>
              <a:rPr sz="2625" b="1" i="0">
                <a:solidFill>
                  <a:srgbClr val="000000"/>
                </a:solidFill>
                <a:latin typeface="Noto Sans SC"/>
                <a:ea typeface="Noto Sans SC"/>
              </a:rPr>
              <a:t>解析引擎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6328" y="2997993"/>
            <a:ext cx="2476690" cy="1845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631" b="0" i="0" dirty="0" err="1">
                <a:solidFill>
                  <a:srgbClr val="171717"/>
                </a:solidFill>
                <a:latin typeface="Noto Sans SC"/>
                <a:ea typeface="Noto Sans SC"/>
              </a:rPr>
              <a:t>支持BGE系列</a:t>
            </a:r>
            <a:r>
              <a:rPr lang="zh-CN" altLang="en-US" sz="1631" b="0" i="0" dirty="0">
                <a:solidFill>
                  <a:srgbClr val="171717"/>
                </a:solidFill>
                <a:latin typeface="Noto Sans SC"/>
                <a:ea typeface="Noto Sans SC"/>
              </a:rPr>
              <a:t>多语言</a:t>
            </a:r>
            <a:endParaRPr lang="en-US" altLang="zh-CN" sz="1631" b="0" i="0" dirty="0">
              <a:solidFill>
                <a:srgbClr val="171717"/>
              </a:solidFill>
              <a:latin typeface="Noto Sans SC"/>
              <a:ea typeface="Noto Sans SC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631" b="0" i="0" dirty="0">
                <a:solidFill>
                  <a:srgbClr val="171717"/>
                </a:solidFill>
                <a:latin typeface="Noto Sans SC"/>
                <a:ea typeface="Noto Sans SC"/>
              </a:rPr>
              <a:t>Embedding</a:t>
            </a:r>
            <a:endParaRPr lang="en-US" sz="1631" dirty="0">
              <a:solidFill>
                <a:srgbClr val="171717"/>
              </a:solidFill>
              <a:latin typeface="Noto Sans SC"/>
              <a:ea typeface="Noto Sans SC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sz="1631" b="0" i="0" dirty="0">
              <a:solidFill>
                <a:srgbClr val="171717"/>
              </a:solidFill>
              <a:latin typeface="Noto Sans SC"/>
              <a:ea typeface="Noto Sans SC"/>
            </a:endParaRPr>
          </a:p>
          <a:p>
            <a:pPr marL="1523">
              <a:spcBef>
                <a:spcPts val="492"/>
              </a:spcBef>
            </a:pPr>
            <a:r>
              <a:rPr lang="zh-CN" sz="1631" dirty="0">
                <a:latin typeface="Noto Sans SC"/>
                <a:ea typeface="Noto Sans SC"/>
              </a:rPr>
              <a:t>兼容主流</a:t>
            </a:r>
            <a:r>
              <a:rPr lang="zh-CN" altLang="en-US" sz="1631" dirty="0">
                <a:latin typeface="Noto Sans SC"/>
                <a:ea typeface="Noto Sans SC"/>
              </a:rPr>
              <a:t>向</a:t>
            </a:r>
            <a:r>
              <a:rPr lang="zh-CN" sz="1631" dirty="0">
                <a:latin typeface="Noto Sans SC"/>
                <a:ea typeface="Noto Sans SC"/>
              </a:rPr>
              <a:t>量库</a:t>
            </a:r>
            <a:endParaRPr lang="en-US" altLang="zh-CN" sz="1631" dirty="0">
              <a:latin typeface="Noto Sans SC"/>
              <a:ea typeface="Noto Sans SC"/>
            </a:endParaRPr>
          </a:p>
          <a:p>
            <a:pPr marL="1523">
              <a:spcBef>
                <a:spcPts val="492"/>
              </a:spcBef>
            </a:pPr>
            <a:endParaRPr lang="zh-CN" sz="1631" dirty="0">
              <a:latin typeface="Noto Sans SC"/>
              <a:ea typeface="Noto Sans SC"/>
            </a:endParaRPr>
          </a:p>
          <a:p>
            <a:pPr marL="1523">
              <a:spcBef>
                <a:spcPts val="385"/>
              </a:spcBef>
            </a:pPr>
            <a:r>
              <a:rPr lang="zh-CN" sz="1631" dirty="0">
                <a:latin typeface="Noto Sans SC"/>
                <a:ea typeface="Noto Sans SC"/>
              </a:rPr>
              <a:t>多维度细细度算法优化</a:t>
            </a:r>
          </a:p>
          <a:p>
            <a:pPr marL="762">
              <a:spcBef>
                <a:spcPts val="379"/>
              </a:spcBef>
            </a:pPr>
            <a:r>
              <a:rPr lang="zh-CN" sz="1631" dirty="0">
                <a:latin typeface="Noto Sans SC"/>
                <a:ea typeface="Noto Sans SC"/>
              </a:rPr>
              <a:t>和搜索效果,支持语义搜</a:t>
            </a:r>
          </a:p>
          <a:p>
            <a:pPr marL="1523">
              <a:spcBef>
                <a:spcPts val="379"/>
              </a:spcBef>
            </a:pPr>
            <a:r>
              <a:rPr lang="zh-CN" sz="1631" dirty="0">
                <a:latin typeface="Noto Sans SC"/>
                <a:ea typeface="Noto Sans SC"/>
              </a:rPr>
              <a:t>索和</a:t>
            </a:r>
            <a:r>
              <a:rPr lang="zh-CN" sz="1631" b="1" dirty="0">
                <a:solidFill>
                  <a:schemeClr val="accent1"/>
                </a:solidFill>
                <a:latin typeface="Noto Sans SC"/>
                <a:ea typeface="Noto Sans SC"/>
              </a:rPr>
              <a:t>知识图图查询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8178" y="3024854"/>
            <a:ext cx="2151221" cy="59397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575" b="0" i="0" dirty="0" err="1">
                <a:solidFill>
                  <a:srgbClr val="191919"/>
                </a:solidFill>
                <a:latin typeface="Noto Sans SC"/>
                <a:ea typeface="Noto Sans SC"/>
              </a:rPr>
              <a:t>严肃的</a:t>
            </a:r>
            <a:r>
              <a:rPr sz="1575" b="1" i="0" dirty="0" err="1">
                <a:solidFill>
                  <a:schemeClr val="accent1"/>
                </a:solidFill>
                <a:latin typeface="Noto Sans SC"/>
                <a:ea typeface="Noto Sans SC"/>
              </a:rPr>
              <a:t>RBAC角色体系</a:t>
            </a:r>
            <a:r>
              <a:rPr sz="1575" b="0" i="0" dirty="0">
                <a:solidFill>
                  <a:srgbClr val="191919"/>
                </a:solidFill>
                <a:latin typeface="Noto Sans SC"/>
                <a:ea typeface="Noto Sans SC"/>
              </a:rPr>
              <a:t>,</a:t>
            </a:r>
          </a:p>
          <a:p>
            <a:pPr>
              <a:spcBef>
                <a:spcPts val="627"/>
              </a:spcBef>
            </a:pPr>
            <a:r>
              <a:rPr lang="zh-CN" sz="1575" dirty="0">
                <a:latin typeface="Noto Sans SC"/>
                <a:ea typeface="Noto Sans SC"/>
              </a:rPr>
              <a:t>适配组织架构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8852" y="3055524"/>
            <a:ext cx="2343292" cy="56330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687" b="1" i="0" dirty="0" err="1">
                <a:solidFill>
                  <a:schemeClr val="accent1"/>
                </a:solidFill>
                <a:latin typeface="Noto Sans SC"/>
                <a:ea typeface="Noto Sans SC"/>
              </a:rPr>
              <a:t>集成MinerU</a:t>
            </a:r>
            <a:r>
              <a:rPr sz="1687" b="1" i="0" dirty="0">
                <a:solidFill>
                  <a:schemeClr val="accent1"/>
                </a:solidFill>
                <a:latin typeface="Noto Sans SC"/>
                <a:ea typeface="Noto Sans SC"/>
              </a:rPr>
              <a:t>,</a:t>
            </a:r>
          </a:p>
          <a:p>
            <a:pPr>
              <a:spcBef>
                <a:spcPts val="385"/>
              </a:spcBef>
            </a:pPr>
            <a:r>
              <a:rPr lang="zh-CN" sz="1687" dirty="0">
                <a:latin typeface="Noto Sans SC"/>
                <a:ea typeface="Noto Sans SC"/>
              </a:rPr>
              <a:t>攻使复杂PDF版面与表格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8178" y="3973925"/>
            <a:ext cx="2532221" cy="59397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612" b="0" i="0" dirty="0" err="1">
                <a:solidFill>
                  <a:srgbClr val="191919"/>
                </a:solidFill>
                <a:latin typeface="Noto Sans SC"/>
                <a:ea typeface="Noto Sans SC"/>
              </a:rPr>
              <a:t>数据安全分级管理访问控制</a:t>
            </a:r>
            <a:endParaRPr sz="1612" b="0" i="0" dirty="0">
              <a:solidFill>
                <a:srgbClr val="191919"/>
              </a:solidFill>
              <a:latin typeface="Noto Sans SC"/>
              <a:ea typeface="Noto Sans SC"/>
            </a:endParaRPr>
          </a:p>
          <a:p>
            <a:pPr>
              <a:spcBef>
                <a:spcPts val="627"/>
              </a:spcBef>
            </a:pPr>
            <a:endParaRPr lang="en-US" altLang="zh-CN" sz="1612" dirty="0">
              <a:latin typeface="Noto Sans SC"/>
              <a:ea typeface="Noto Sans SC"/>
            </a:endParaRPr>
          </a:p>
          <a:p>
            <a:pPr>
              <a:spcBef>
                <a:spcPts val="627"/>
              </a:spcBef>
            </a:pPr>
            <a:r>
              <a:rPr lang="zh-CN" sz="1612" dirty="0">
                <a:latin typeface="Noto Sans SC"/>
                <a:ea typeface="Noto Sans SC"/>
              </a:rPr>
              <a:t>审计日志和操作追踪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8852" y="4004595"/>
            <a:ext cx="2561463" cy="86867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171717"/>
                </a:solidFill>
                <a:latin typeface="Noto Sans SC"/>
                <a:ea typeface="Noto Sans SC"/>
              </a:rPr>
              <a:t>支持OCR识别和多模态内容</a:t>
            </a:r>
          </a:p>
          <a:p>
            <a:pPr>
              <a:spcBef>
                <a:spcPts val="385"/>
              </a:spcBef>
            </a:pPr>
            <a:r>
              <a:rPr lang="zh-CN" sz="1575">
                <a:latin typeface="Noto Sans SC"/>
                <a:ea typeface="Noto Sans SC"/>
              </a:rPr>
              <a:t>智能数据清洗和结构化处理</a:t>
            </a:r>
          </a:p>
          <a:p>
            <a:pPr marL="666">
              <a:spcBef>
                <a:spcPts val="632"/>
              </a:spcBef>
            </a:pPr>
            <a:r>
              <a:rPr lang="zh-CN" sz="1575">
                <a:latin typeface="Noto Sans SC"/>
                <a:ea typeface="Noto Sans SC"/>
              </a:rPr>
              <a:t>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3325" y="5747385"/>
            <a:ext cx="4763928" cy="3535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3733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0F0F10"/>
                </a:solidFill>
                <a:latin typeface="Noto Sans SC"/>
                <a:ea typeface="Noto Sans SC"/>
              </a:rPr>
              <a:t>三大核心技术,构建完整的检索能力栈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F05BBB08-8CF1-64B2-FC48-E80872D0C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020F-E19E-438C-87FF-727307198039}" type="datetime1">
              <a:rPr lang="en-US" smtClean="0"/>
              <a:t>3/10/2026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EF515C2F-A42E-0F3D-AF18-C977F1694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©Iteasoft , all rights reserved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8CFE8C6E-B2A4-A146-D561-4146A0DB0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b="10000"/>
          <a:stretch>
            <a:fillRect/>
          </a:stretch>
        </p:blipFill>
        <p:spPr>
          <a:xfrm>
            <a:off x="0" y="0"/>
            <a:ext cx="12192000" cy="6172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9387" y="387286"/>
            <a:ext cx="3889152" cy="45005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8125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90A1F"/>
                </a:solidFill>
                <a:latin typeface="Noto Sans SC"/>
                <a:ea typeface="Noto Sans SC"/>
              </a:rPr>
              <a:t>多模态支持与应用场景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0815" y="1307306"/>
            <a:ext cx="1395031" cy="38576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2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C0D22"/>
                </a:solidFill>
                <a:latin typeface="Noto Sans SC"/>
                <a:ea typeface="Noto Sans SC"/>
              </a:rPr>
              <a:t>模态类型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2343" y="1952529"/>
            <a:ext cx="3149155" cy="28927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2043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17182A"/>
                </a:solidFill>
                <a:latin typeface="Noto Sans SC"/>
                <a:ea typeface="Noto Sans SC"/>
              </a:rPr>
              <a:t>非结构化文档(PDF/Word/MD)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37838" y="1952529"/>
            <a:ext cx="2269902" cy="28927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148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17182A"/>
                </a:solidFill>
                <a:latin typeface="Noto Sans SC"/>
                <a:ea typeface="Noto Sans SC"/>
              </a:rPr>
              <a:t>多媒体内容(OCR增强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4178" y="1983962"/>
            <a:ext cx="2385631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25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dirty="0" err="1">
                <a:solidFill>
                  <a:srgbClr val="17182A"/>
                </a:solidFill>
                <a:latin typeface="Noto Sans SC"/>
                <a:ea typeface="Noto Sans SC"/>
              </a:rPr>
              <a:t>动态网页</a:t>
            </a:r>
            <a:r>
              <a:rPr sz="1800" b="0" i="0" dirty="0">
                <a:solidFill>
                  <a:srgbClr val="17182A"/>
                </a:solidFill>
                <a:latin typeface="Noto Sans SC"/>
                <a:ea typeface="Noto Sans SC"/>
              </a:rPr>
              <a:t>(</a:t>
            </a:r>
            <a:r>
              <a:rPr sz="1800" b="0" i="0" dirty="0" err="1">
                <a:solidFill>
                  <a:srgbClr val="17182A"/>
                </a:solidFill>
                <a:latin typeface="Noto Sans SC"/>
                <a:ea typeface="Noto Sans SC"/>
              </a:rPr>
              <a:t>内置Crawler</a:t>
            </a:r>
            <a:r>
              <a:rPr sz="1800" b="0" i="0" dirty="0">
                <a:solidFill>
                  <a:srgbClr val="17182A"/>
                </a:solidFill>
                <a:latin typeface="Noto Sans SC"/>
                <a:ea typeface="Noto Sans SC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77768" y="1983962"/>
            <a:ext cx="1946052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27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dirty="0" err="1">
                <a:solidFill>
                  <a:srgbClr val="17182A"/>
                </a:solidFill>
                <a:latin typeface="Noto Sans SC"/>
                <a:ea typeface="Noto Sans SC"/>
              </a:rPr>
              <a:t>代码片段和技术文档</a:t>
            </a:r>
            <a:endParaRPr sz="1650" b="0" i="0" dirty="0">
              <a:solidFill>
                <a:srgbClr val="17182A"/>
              </a:solidFill>
              <a:latin typeface="Noto Sans SC"/>
              <a:ea typeface="Noto Sans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0815" y="3083052"/>
            <a:ext cx="1395031" cy="38576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2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0D22"/>
                </a:solidFill>
                <a:latin typeface="Noto Sans SC"/>
                <a:ea typeface="Noto Sans SC"/>
              </a:rPr>
              <a:t>应用场景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563" y="4032123"/>
            <a:ext cx="2274284" cy="38576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6579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B0C24"/>
                </a:solidFill>
                <a:latin typeface="Noto Sans SC"/>
                <a:ea typeface="Noto Sans SC"/>
              </a:rPr>
              <a:t>垂直领域大脑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0152" y="4032123"/>
            <a:ext cx="1541621" cy="38576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6579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A0B22"/>
                </a:solidFill>
                <a:latin typeface="Noto Sans SC"/>
                <a:ea typeface="Noto Sans SC"/>
              </a:rPr>
              <a:t>智能客服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7515" y="4708779"/>
            <a:ext cx="3070883" cy="105317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A1D33"/>
                </a:solidFill>
                <a:latin typeface="Noto Sans SC"/>
                <a:ea typeface="Noto Sans SC"/>
              </a:rPr>
              <a:t>法律、技术规范精准问答</a:t>
            </a:r>
          </a:p>
          <a:p>
            <a:pPr>
              <a:spcBef>
                <a:spcPts val="1108"/>
              </a:spcBef>
            </a:pPr>
            <a:r>
              <a:rPr lang="zh-CN" sz="1650">
                <a:latin typeface="Noto Sans SC"/>
                <a:ea typeface="Noto Sans SC"/>
              </a:rPr>
              <a:t>构建行业知识库,支持智能问答</a:t>
            </a:r>
          </a:p>
          <a:p>
            <a:pPr>
              <a:spcBef>
                <a:spcPts val="1109"/>
              </a:spcBef>
            </a:pPr>
            <a:r>
              <a:rPr lang="zh-CN" sz="1650">
                <a:latin typeface="Noto Sans SC"/>
                <a:ea typeface="Noto Sans SC"/>
              </a:rPr>
              <a:t>辅助决策和知识沉淀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3105" y="4708779"/>
            <a:ext cx="3520440" cy="105317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71A30"/>
                </a:solidFill>
                <a:latin typeface="Noto Sans SC"/>
                <a:ea typeface="Noto Sans SC"/>
              </a:rPr>
              <a:t>基于企业私域数据的「零幻觉」解答</a:t>
            </a:r>
          </a:p>
          <a:p>
            <a:pPr>
              <a:spcBef>
                <a:spcPts val="1108"/>
              </a:spcBef>
            </a:pPr>
            <a:r>
              <a:rPr lang="zh-CN" sz="1650">
                <a:latin typeface="Noto Sans SC"/>
                <a:ea typeface="Noto Sans SC"/>
              </a:rPr>
              <a:t>提供7x24小时自动化服务</a:t>
            </a:r>
          </a:p>
          <a:p>
            <a:pPr>
              <a:spcBef>
                <a:spcPts val="1109"/>
              </a:spcBef>
            </a:pPr>
            <a:r>
              <a:rPr lang="zh-CN" sz="1650">
                <a:latin typeface="Noto Sans SC"/>
                <a:ea typeface="Noto Sans SC"/>
              </a:rPr>
              <a:t>提升客户满意度,降低运营成本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11833479-ED44-19A0-4B7F-28E001228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EF1DE-04C6-46FD-B84B-1E70CCCCA6D3}" type="datetime1">
              <a:rPr lang="en-US" smtClean="0"/>
              <a:t>3/10/2026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23AE49B8-11B8-7B8C-E193-9DBFDCFC1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©Iteasoft , all rights reserved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02FD84E-2B37-4996-5418-AA4572955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b="10000"/>
          <a:stretch>
            <a:fillRect/>
          </a:stretch>
        </p:blipFill>
        <p:spPr>
          <a:xfrm>
            <a:off x="0" y="0"/>
            <a:ext cx="12192000" cy="61722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6554" y="2187987"/>
            <a:ext cx="1152868" cy="104374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9179" y="3316509"/>
            <a:ext cx="688983" cy="8315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5647" y="4440409"/>
            <a:ext cx="1136523" cy="100812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2549" y="2192489"/>
            <a:ext cx="1126045" cy="1026268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3466" y="3394329"/>
            <a:ext cx="1022859" cy="9039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643" y="479869"/>
            <a:ext cx="3594544" cy="41786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0" marR="0" lvl="0" indent="0" algn="just" defTabSz="457200" rtl="0" eaLnBrk="1" fontAlgn="auto" latinLnBrk="0" hangingPunct="1">
              <a:lnSpc>
                <a:spcPct val="10445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150" b="1" i="0" u="none" strike="noStrike" kern="1200" cap="none" spc="0" normalizeH="0" baseline="0" noProof="0" dirty="0" err="1">
                <a:ln>
                  <a:noFill/>
                </a:ln>
                <a:solidFill>
                  <a:srgbClr val="070708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AnyAdmin</a:t>
            </a:r>
            <a:r>
              <a:rPr kumimoji="0" lang="en-US" altLang="zh-CN" sz="3150" b="1" i="0" u="none" strike="noStrike" kern="1200" cap="none" spc="0" normalizeH="0" baseline="0" noProof="0" dirty="0">
                <a:ln>
                  <a:noFill/>
                </a:ln>
                <a:solidFill>
                  <a:srgbClr val="070708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 &amp; </a:t>
            </a:r>
            <a:r>
              <a:rPr kumimoji="0" lang="en-US" altLang="zh-CN" sz="3150" b="1" i="0" u="none" strike="noStrike" kern="1200" cap="none" spc="0" normalizeH="0" baseline="0" noProof="0" dirty="0" err="1">
                <a:ln>
                  <a:noFill/>
                </a:ln>
                <a:solidFill>
                  <a:srgbClr val="070708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AnyZearch</a:t>
            </a:r>
            <a:r>
              <a:rPr kumimoji="0" lang="en-US" altLang="zh-CN" sz="3150" b="1" i="0" u="none" strike="noStrike" kern="1200" cap="none" spc="0" normalizeH="0" baseline="0" noProof="0" dirty="0">
                <a:ln>
                  <a:noFill/>
                </a:ln>
                <a:solidFill>
                  <a:srgbClr val="070708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 </a:t>
            </a:r>
            <a:r>
              <a:rPr kumimoji="0" sz="3150" b="1" i="0" u="none" strike="noStrike" kern="1200" cap="none" spc="0" normalizeH="0" baseline="0" noProof="0" dirty="0">
                <a:ln>
                  <a:noFill/>
                </a:ln>
                <a:solidFill>
                  <a:srgbClr val="070708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协同优势:1+1&gt;2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4768" y="1402175"/>
            <a:ext cx="2444305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0" marR="0" lvl="0" indent="0" algn="just" defTabSz="457200" rtl="0" eaLnBrk="1" fontAlgn="auto" latinLnBrk="0" hangingPunct="1">
              <a:lnSpc>
                <a:spcPct val="12695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25" b="1" i="0" u="none" strike="noStrike" kern="1200" cap="none" spc="0" normalizeH="0" baseline="0" noProof="0" dirty="0" err="1">
                <a:ln>
                  <a:noFill/>
                </a:ln>
                <a:solidFill>
                  <a:srgbClr val="111011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Any</a:t>
            </a:r>
            <a:r>
              <a:rPr kumimoji="0" lang="en-US" sz="1725" b="1" i="0" u="none" strike="noStrike" kern="1200" cap="none" spc="0" normalizeH="0" baseline="0" noProof="0" dirty="0" err="1">
                <a:ln>
                  <a:noFill/>
                </a:ln>
                <a:solidFill>
                  <a:srgbClr val="111011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A</a:t>
            </a:r>
            <a:r>
              <a:rPr kumimoji="0" sz="1725" b="1" i="0" u="none" strike="noStrike" kern="1200" cap="none" spc="0" normalizeH="0" baseline="0" noProof="0" dirty="0" err="1">
                <a:ln>
                  <a:noFill/>
                </a:ln>
                <a:solidFill>
                  <a:srgbClr val="111011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dmin</a:t>
            </a:r>
            <a:r>
              <a:rPr kumimoji="0" lang="en-US" sz="1725" b="1" i="0" u="none" strike="noStrike" kern="1200" cap="none" spc="0" normalizeH="0" baseline="0" noProof="0" dirty="0">
                <a:ln>
                  <a:noFill/>
                </a:ln>
                <a:solidFill>
                  <a:srgbClr val="111011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 </a:t>
            </a:r>
            <a:r>
              <a:rPr kumimoji="0" sz="1725" b="1" i="0" u="none" strike="noStrike" kern="1200" cap="none" spc="0" normalizeH="0" baseline="0" noProof="0" dirty="0" err="1">
                <a:ln>
                  <a:noFill/>
                </a:ln>
                <a:solidFill>
                  <a:srgbClr val="111011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提供</a:t>
            </a:r>
            <a:r>
              <a:rPr kumimoji="0" lang="zh-CN" altLang="en-US" sz="1725" b="1" i="0" u="none" strike="noStrike" kern="1200" cap="none" spc="0" normalizeH="0" baseline="0" noProof="0" dirty="0">
                <a:ln>
                  <a:noFill/>
                </a:ln>
                <a:solidFill>
                  <a:srgbClr val="111011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算力管理能力</a:t>
            </a:r>
            <a:endParaRPr kumimoji="0" sz="1725" b="1" i="0" u="none" strike="noStrike" kern="1200" cap="none" spc="0" normalizeH="0" baseline="0" noProof="0" dirty="0">
              <a:ln>
                <a:noFill/>
              </a:ln>
              <a:solidFill>
                <a:srgbClr val="111011"/>
              </a:solidFill>
              <a:effectLst/>
              <a:uLnTx/>
              <a:uFillTx/>
              <a:latin typeface="Noto Sans SC"/>
              <a:ea typeface="Noto Sans SC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31515" y="1402175"/>
            <a:ext cx="890968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0" marR="0" lvl="0" indent="0" algn="just" defTabSz="457200" rtl="0" eaLnBrk="1" fontAlgn="auto" latinLnBrk="0" hangingPunct="1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111011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模型及知识库</a:t>
            </a:r>
            <a:r>
              <a:rPr kumimoji="0" sz="1650" b="1" i="0" u="none" strike="noStrike" kern="1200" cap="none" spc="0" normalizeH="0" baseline="0" noProof="0" dirty="0" err="1">
                <a:ln>
                  <a:noFill/>
                </a:ln>
                <a:solidFill>
                  <a:srgbClr val="111011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全栈路径</a:t>
            </a:r>
            <a:endParaRPr kumimoji="0" sz="1650" b="1" i="0" u="none" strike="noStrike" kern="1200" cap="none" spc="0" normalizeH="0" baseline="0" noProof="0" dirty="0">
              <a:ln>
                <a:noFill/>
              </a:ln>
              <a:solidFill>
                <a:srgbClr val="111011"/>
              </a:solidFill>
              <a:effectLst/>
              <a:uLnTx/>
              <a:uFillTx/>
              <a:latin typeface="Noto Sans SC"/>
              <a:ea typeface="Noto Sans SC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31515" y="1708404"/>
            <a:ext cx="4349305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0" marR="0" lvl="0" indent="0" algn="just" defTabSz="457200" rtl="0" eaLnBrk="1" fontAlgn="auto" latinLnBrk="0" hangingPunct="1">
              <a:lnSpc>
                <a:spcPct val="1421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25" b="0" i="0" u="none" strike="noStrike" kern="1200" cap="none" spc="0" normalizeH="0" baseline="0" noProof="0">
                <a:ln>
                  <a:noFill/>
                </a:ln>
                <a:solidFill>
                  <a:srgbClr val="20222C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算力监控→模型调度→多模态解析→RAG智能问答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4764" y="1723167"/>
            <a:ext cx="4643818" cy="48663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5" b="0" i="0" u="none" strike="noStrike" kern="1200" cap="none" spc="0" normalizeH="0" baseline="0" noProof="0">
                <a:ln>
                  <a:noFill/>
                </a:ln>
                <a:solidFill>
                  <a:srgbClr val="20222C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建立标准化算力基础设施。实现高效算力调度和资源管理。</a:t>
            </a:r>
          </a:p>
          <a:p>
            <a:pPr marL="1428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7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提供稳定可靠的运行环境。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94109" y="2535745"/>
            <a:ext cx="391287" cy="22498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0" marR="0" lvl="0" indent="0" algn="ctr" defTabSz="457200" rtl="0" eaLnBrk="1" fontAlgn="auto" latinLnBrk="0" hangingPunct="1">
              <a:lnSpc>
                <a:spcPct val="118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斜力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482" y="4677728"/>
            <a:ext cx="2448496" cy="27813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0" marR="0" lvl="0" indent="0" algn="just" defTabSz="457200" rtl="0" eaLnBrk="1" fontAlgn="auto" latinLnBrk="0" hangingPunct="1">
              <a:lnSpc>
                <a:spcPct val="12695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25" b="1" i="0" u="none" strike="noStrike" kern="1200" cap="none" spc="0" normalizeH="0" baseline="0" noProof="0" dirty="0" err="1">
                <a:ln>
                  <a:noFill/>
                </a:ln>
                <a:solidFill>
                  <a:srgbClr val="111011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A</a:t>
            </a:r>
            <a:r>
              <a:rPr kumimoji="0" sz="1725" b="1" i="0" u="none" strike="noStrike" kern="1200" cap="none" spc="0" normalizeH="0" baseline="0" noProof="0" dirty="0" err="1">
                <a:ln>
                  <a:noFill/>
                </a:ln>
                <a:solidFill>
                  <a:srgbClr val="111011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ny</a:t>
            </a:r>
            <a:r>
              <a:rPr kumimoji="0" lang="en-US" sz="1725" b="1" i="0" u="none" strike="noStrike" kern="1200" cap="none" spc="0" normalizeH="0" baseline="0" noProof="0" dirty="0" err="1">
                <a:ln>
                  <a:noFill/>
                </a:ln>
                <a:solidFill>
                  <a:srgbClr val="111011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Z</a:t>
            </a:r>
            <a:r>
              <a:rPr kumimoji="0" sz="1725" b="1" i="0" u="none" strike="noStrike" kern="1200" cap="none" spc="0" normalizeH="0" baseline="0" noProof="0" dirty="0" err="1">
                <a:ln>
                  <a:noFill/>
                </a:ln>
                <a:solidFill>
                  <a:srgbClr val="111011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earch</a:t>
            </a:r>
            <a:r>
              <a:rPr kumimoji="0" lang="en-US" sz="1725" b="1" i="0" u="none" strike="noStrike" kern="1200" cap="none" spc="0" normalizeH="0" baseline="0" noProof="0" dirty="0">
                <a:ln>
                  <a:noFill/>
                </a:ln>
                <a:solidFill>
                  <a:srgbClr val="111011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 </a:t>
            </a:r>
            <a:r>
              <a:rPr kumimoji="0" sz="1725" b="1" i="0" u="none" strike="noStrike" kern="1200" cap="none" spc="0" normalizeH="0" baseline="0" noProof="0" dirty="0" err="1">
                <a:ln>
                  <a:noFill/>
                </a:ln>
                <a:solidFill>
                  <a:srgbClr val="111011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提供</a:t>
            </a:r>
            <a:r>
              <a:rPr kumimoji="0" lang="zh-CN" altLang="en-US" sz="1725" b="1" i="0" u="none" strike="noStrike" kern="1200" cap="none" spc="0" normalizeH="0" baseline="0" noProof="0" dirty="0">
                <a:ln>
                  <a:noFill/>
                </a:ln>
                <a:solidFill>
                  <a:srgbClr val="111011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深度问答能力</a:t>
            </a:r>
            <a:endParaRPr kumimoji="0" sz="1725" b="1" i="0" u="none" strike="noStrike" kern="1200" cap="none" spc="0" normalizeH="0" baseline="0" noProof="0" dirty="0">
              <a:ln>
                <a:noFill/>
              </a:ln>
              <a:solidFill>
                <a:srgbClr val="111011"/>
              </a:solidFill>
              <a:effectLst/>
              <a:uLnTx/>
              <a:uFillTx/>
              <a:latin typeface="Noto Sans SC"/>
              <a:ea typeface="Noto Sans SC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937277" y="4770786"/>
            <a:ext cx="361950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0" marR="0" lvl="0" indent="0" algn="ctr" defTabSz="457200" rtl="0" eaLnBrk="1" fontAlgn="auto" latinLnBrk="0" hangingPunct="1">
              <a:lnSpc>
                <a:spcPct val="12436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25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斜力</a:t>
            </a:r>
            <a:endParaRPr kumimoji="0" sz="1425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Noto Sans SC"/>
              <a:ea typeface="Noto Sans SC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933688" y="4770786"/>
            <a:ext cx="713613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0" marR="0" lvl="0" indent="0" algn="ctr" defTabSz="457200" rtl="0" eaLnBrk="1" fontAlgn="auto" latinLnBrk="0" hangingPunct="1">
              <a:lnSpc>
                <a:spcPct val="13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5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业务洞察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5431" y="5018056"/>
            <a:ext cx="4026884" cy="50139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12" b="0" i="0" u="none" strike="noStrike" kern="1200" cap="none" spc="0" normalizeH="0" baseline="0" noProof="0">
                <a:ln>
                  <a:noFill/>
                </a:ln>
                <a:solidFill>
                  <a:srgbClr val="1F212E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打破数据孤岛,释放数据价值。实现多模态知识的</a:t>
            </a:r>
          </a:p>
          <a:p>
            <a:pPr marL="30099" marR="0" lvl="0" indent="0" algn="l" defTabSz="457200" rtl="0" eaLnBrk="1" fontAlgn="auto" latinLnBrk="0" hangingPunct="1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1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智能洞察。提升组织知识资产的利用效率。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50882" y="5804820"/>
            <a:ext cx="5634514" cy="36738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0" marR="0" lvl="0" indent="0" algn="ctr" defTabSz="457200" rtl="0" eaLnBrk="1" fontAlgn="auto" latinLnBrk="0" hangingPunct="1">
              <a:lnSpc>
                <a:spcPct val="11739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25" b="1" i="0" u="none" strike="noStrike" kern="1200" cap="none" spc="0" normalizeH="0" baseline="0" noProof="0" dirty="0" err="1">
                <a:ln>
                  <a:noFill/>
                </a:ln>
                <a:solidFill>
                  <a:srgbClr val="0E0E10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协同价值</a:t>
            </a:r>
            <a:r>
              <a:rPr kumimoji="0" lang="zh-CN" altLang="en-US" sz="1725" b="1" i="0" u="none" strike="noStrike" kern="1200" cap="none" spc="0" normalizeH="0" baseline="0" noProof="0" dirty="0">
                <a:ln>
                  <a:noFill/>
                </a:ln>
                <a:solidFill>
                  <a:srgbClr val="0E0E10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： 双剑合壁</a:t>
            </a:r>
            <a:r>
              <a:rPr kumimoji="0" lang="en-US" altLang="zh-CN" sz="1725" b="1" i="0" u="none" strike="noStrike" kern="1200" cap="none" spc="0" normalizeH="0" baseline="0" noProof="0" dirty="0">
                <a:ln>
                  <a:noFill/>
                </a:ln>
                <a:solidFill>
                  <a:srgbClr val="0E0E10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,</a:t>
            </a:r>
            <a:r>
              <a:rPr kumimoji="0" lang="zh-CN" altLang="en-US" sz="1725" b="1" i="0" u="none" strike="noStrike" kern="1200" cap="none" spc="0" normalizeH="0" baseline="0" noProof="0" dirty="0">
                <a:ln>
                  <a:noFill/>
                </a:ln>
                <a:solidFill>
                  <a:srgbClr val="0E0E10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打造企业级</a:t>
            </a:r>
            <a:r>
              <a:rPr kumimoji="0" lang="en-US" altLang="zh-CN" sz="1725" b="1" i="0" u="none" strike="noStrike" kern="1200" cap="none" spc="0" normalizeH="0" baseline="0" noProof="0" dirty="0">
                <a:ln>
                  <a:noFill/>
                </a:ln>
                <a:solidFill>
                  <a:srgbClr val="0E0E10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AI</a:t>
            </a:r>
            <a:r>
              <a:rPr kumimoji="0" lang="zh-CN" altLang="en-US" sz="1725" b="1" i="0" u="none" strike="noStrike" kern="1200" cap="none" spc="0" normalizeH="0" baseline="0" noProof="0" dirty="0">
                <a:ln>
                  <a:noFill/>
                </a:ln>
                <a:solidFill>
                  <a:srgbClr val="0E0E10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基础设施完整闭环</a:t>
            </a: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53AC4B8A-6E73-79D5-C255-B603BA1D8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6190B-3464-4699-83BC-072006D672D3}" type="datetime1">
              <a:rPr lang="en-US" smtClean="0"/>
              <a:t>3/10/2026</a:t>
            </a:fld>
            <a:endParaRPr lang="en-US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38332AE-6CD4-DB66-F419-F304F75B6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©Iteasoft , all rights reserved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C6CD0FC4-5FC5-1617-B502-1AC8133A0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707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b="10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42588" y="2587847"/>
            <a:ext cx="4277487" cy="61074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5115"/>
              </a:lnSpc>
              <a:spcBef>
                <a:spcPts val="0"/>
              </a:spcBef>
              <a:spcAft>
                <a:spcPts val="0"/>
              </a:spcAft>
            </a:pPr>
            <a:r>
              <a:rPr sz="4575" b="1" i="0">
                <a:solidFill>
                  <a:srgbClr val="071F4C"/>
                </a:solidFill>
                <a:latin typeface="Noto Sans SC"/>
                <a:ea typeface="Noto Sans SC"/>
              </a:rPr>
              <a:t>链接算力与智慧,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22009" y="3292030"/>
            <a:ext cx="5918644" cy="61074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3419"/>
              </a:lnSpc>
              <a:spcBef>
                <a:spcPts val="0"/>
              </a:spcBef>
              <a:spcAft>
                <a:spcPts val="0"/>
              </a:spcAft>
            </a:pPr>
            <a:r>
              <a:rPr sz="4650" b="1" i="0">
                <a:solidFill>
                  <a:srgbClr val="071F4C"/>
                </a:solidFill>
                <a:latin typeface="Noto Sans SC"/>
                <a:ea typeface="Noto Sans SC"/>
              </a:rPr>
              <a:t>开启企业AI工业化时代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986</Words>
  <Application>Microsoft Office PowerPoint</Application>
  <PresentationFormat>Widescreen</PresentationFormat>
  <Paragraphs>177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Noto Sans SC</vt:lpstr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KTChan</dc:creator>
  <cp:keywords/>
  <dc:description>generated using python-pptx</dc:description>
  <cp:lastModifiedBy>chan chi wai</cp:lastModifiedBy>
  <cp:revision>9</cp:revision>
  <dcterms:created xsi:type="dcterms:W3CDTF">2013-01-27T09:14:16Z</dcterms:created>
  <dcterms:modified xsi:type="dcterms:W3CDTF">2026-03-10T14:36:52Z</dcterms:modified>
  <cp:category/>
</cp:coreProperties>
</file>